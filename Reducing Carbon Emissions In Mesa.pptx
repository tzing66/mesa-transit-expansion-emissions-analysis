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DM Sans Medium"/>
      <p:regular r:id="rId31"/>
      <p:bold r:id="rId32"/>
      <p:italic r:id="rId33"/>
      <p:boldItalic r:id="rId34"/>
    </p:embeddedFont>
    <p:embeddedFont>
      <p:font typeface="Merriweather"/>
      <p:regular r:id="rId35"/>
      <p:bold r:id="rId36"/>
      <p:italic r:id="rId37"/>
      <p:boldItalic r:id="rId38"/>
    </p:embeddedFont>
    <p:embeddedFont>
      <p:font typeface="DM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bold.fntdata"/><Relationship Id="rId20" Type="http://schemas.openxmlformats.org/officeDocument/2006/relationships/slide" Target="slides/slide15.xml"/><Relationship Id="rId42" Type="http://schemas.openxmlformats.org/officeDocument/2006/relationships/font" Target="fonts/DMSans-boldItalic.fntdata"/><Relationship Id="rId41" Type="http://schemas.openxmlformats.org/officeDocument/2006/relationships/font" Target="fonts/DMSans-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Medium-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DMSansMedium-italic.fntdata"/><Relationship Id="rId10" Type="http://schemas.openxmlformats.org/officeDocument/2006/relationships/slide" Target="slides/slide5.xml"/><Relationship Id="rId32" Type="http://schemas.openxmlformats.org/officeDocument/2006/relationships/font" Target="fonts/DMSansMedium-bold.fntdata"/><Relationship Id="rId13" Type="http://schemas.openxmlformats.org/officeDocument/2006/relationships/slide" Target="slides/slide8.xml"/><Relationship Id="rId35" Type="http://schemas.openxmlformats.org/officeDocument/2006/relationships/font" Target="fonts/Merriweather-regular.fntdata"/><Relationship Id="rId12" Type="http://schemas.openxmlformats.org/officeDocument/2006/relationships/slide" Target="slides/slide7.xml"/><Relationship Id="rId34" Type="http://schemas.openxmlformats.org/officeDocument/2006/relationships/font" Target="fonts/DMSansMedium-boldItalic.fntdata"/><Relationship Id="rId15" Type="http://schemas.openxmlformats.org/officeDocument/2006/relationships/slide" Target="slides/slide10.xml"/><Relationship Id="rId37" Type="http://schemas.openxmlformats.org/officeDocument/2006/relationships/font" Target="fonts/Merriweather-italic.fntdata"/><Relationship Id="rId14" Type="http://schemas.openxmlformats.org/officeDocument/2006/relationships/slide" Target="slides/slide9.xml"/><Relationship Id="rId36" Type="http://schemas.openxmlformats.org/officeDocument/2006/relationships/font" Target="fonts/Merriweather-bold.fntdata"/><Relationship Id="rId17" Type="http://schemas.openxmlformats.org/officeDocument/2006/relationships/slide" Target="slides/slide12.xml"/><Relationship Id="rId39" Type="http://schemas.openxmlformats.org/officeDocument/2006/relationships/font" Target="fonts/DMSans-regular.fntdata"/><Relationship Id="rId16" Type="http://schemas.openxmlformats.org/officeDocument/2006/relationships/slide" Target="slides/slide11.xml"/><Relationship Id="rId38" Type="http://schemas.openxmlformats.org/officeDocument/2006/relationships/font" Target="fonts/Merriweather-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511d92fb6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511d92fb6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first slide. We can change images eventually.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4defeec510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4defeec510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4d6f41b653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4d6f41b653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4defeec510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4defeec510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(maybe one more in a similar format) </a:t>
            </a:r>
            <a:r>
              <a:rPr lang="en"/>
              <a:t>should</a:t>
            </a:r>
            <a:r>
              <a:rPr lang="en"/>
              <a:t> be about </a:t>
            </a:r>
            <a:r>
              <a:rPr lang="en"/>
              <a:t>temperature</a:t>
            </a:r>
            <a:r>
              <a:rPr lang="en"/>
              <a:t> trends and bus trends in mesa, and how carbon emissions are the major cause of rising tempratures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511f233e1f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511f233e1f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4e6231ee7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4e6231ee7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(maybe one more in a similar format) should be about temperature trends and bus trends in mesa, and how carbon emissions are the major cause of rising tempratures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4defeec510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4defeec510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4defeec510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4defeec510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objectives need to explain that due to aforementioned issues (rising </a:t>
            </a:r>
            <a:r>
              <a:rPr lang="en"/>
              <a:t>temperatures</a:t>
            </a:r>
            <a:r>
              <a:rPr lang="en"/>
              <a:t>, carbon emissions), our objective to reduce the emissions comes through an increase in bus routes across mesa and promoting public transit.(change the picture, or edit it. We dont need to stick with this slide design, just the theme)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4defeec510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4defeec510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4defeec510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4defeec510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about our methodology - the data sets we used and procured (bus ridership, </a:t>
            </a:r>
            <a:r>
              <a:rPr lang="en"/>
              <a:t>temperature</a:t>
            </a:r>
            <a:r>
              <a:rPr lang="en"/>
              <a:t> datasets, GIS datasets - census tracts, public transit routes and stops, population data), how we performed the bus ridership analysis and a basic idea of what we gained from it, how we performed the rising </a:t>
            </a:r>
            <a:r>
              <a:rPr lang="en"/>
              <a:t>temperature</a:t>
            </a:r>
            <a:r>
              <a:rPr lang="en"/>
              <a:t> analysis, and GIS analysis. Check report for info most of the stuff should be there or discuss in the group. Add slides as we seem fit, but since this is a presentation we need to keep the text limited and explain our work more.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4f8ce8e6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4f8ce8e6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about our methodology - the data sets we used and procured (bus ridership, temperature datasets, GIS datasets - census tracts, public transit routes and stops, population data), how we performed the bus ridership analysis and a basic idea of what we gained from it, how we performed the rising temperature analysis, and GIS analysis. Check report for info most of the stuff should be there or discuss in the group. Add slides as we seem fit, but since this is a presentation we need to keep the text limited and explain our work more.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4f8ce8e64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4f8ce8e64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about our methodology - the data sets we used and procured (bus ridership, temperature datasets, GIS datasets - census tracts, public transit routes and stops, population data), how we performed the bus ridership analysis and a basic idea of what we gained from it, how we performed the rising temperature analysis, and GIS analysis. Check report for info most of the stuff should be there or discuss in the group. Add slides as we seem fit, but since this is a presentation we need to keep the text limited and explain our work more.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4e6231ee72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4e6231ee72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about our methodology - the data sets we used and procured (bus ridership, temperature datasets, GIS datasets - census tracts, public transit routes and stops, population data), how we performed the bus ridership analysis and a basic idea of what we gained from it, how we performed the rising temperature analysis, and GIS analysis. Check report for info most of the stuff should be there or discuss in the group. Add slides as we seem fit, but since this is a presentation we need to keep the text limited and explain our work more.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4fa6fac7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4fa6fac7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4fa6fac78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4fa6fac78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4fa6fac78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4fa6fac78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about our methodology - the data sets we used and procured (bus ridership, temperature datasets, GIS datasets - census tracts, public transit routes and stops, population data), how we performed the bus ridership analysis and a basic idea of what we gained from it, how we performed the rising temperature analysis, and GIS analysis. Check report for info most of the stuff should be there or discuss in the group. Add slides as we seem fit, but since this is a presentation we need to keep the text limited and explain our work more.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4fa6fac78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4fa6fac78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4defeec510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4defeec510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4fa6fac78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4fa6fac78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about our methodology - the data sets we used and procured (bus ridership, temperature datasets, GIS datasets - census tracts, public transit routes and stops, population data), how we performed the bus ridership analysis and a basic idea of what we gained from it, how we performed the rising temperature analysis, and GIS analysis. Check report for info most of the stuff should be there or discuss in the group. Add slides as we seem fit, but since this is a presentation we need to keep the text limited and explain our work more.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4fa6fac780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4fa6fac78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about our methodology - the data sets we used and procured (bus ridership, temperature datasets, GIS datasets - census tracts, public transit routes and stops, population data), how we performed the bus ridership analysis and a basic idea of what we gained from it, how we performed the rising temperature analysis, and GIS analysis. Check report for info most of the stuff should be there or discuss in the group. Add slides as we seem fit, but since this is a presentation we need to keep the text limited and explain our work more.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4fa6fac78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4fa6fac78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(maybe one more in a similar format) should be about temperature trends and bus trends in mesa, and how carbon emissions are the major cause of rising tempratures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4fa6fac780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4fa6fac780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(maybe one more in a similar format) should be about temperature trends and bus trends in mesa, and how carbon emissions are the major cause of rising tempratures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4f8ce8e64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4f8ce8e64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about our methodology - the data sets we used and procured (bus ridership, temperature datasets, GIS datasets - census tracts, public transit routes and stops, population data), how we performed the bus ridership analysis and a basic idea of what we gained from it, how we performed the rising temperature analysis, and GIS analysis. Check report for info most of the stuff should be there or discuss in the group. Add slides as we seem fit, but since this is a presentation we need to keep the text limited and explain our work more.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4defeec510_1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4defeec510_1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next few slides should talk about how in conclusion the state of mesa is pretty fucked and it needs immediate action and climate change is very real and promoting bus routes is a very simple and easy way to go about it. We can also add risks and barriers here itself should we need to.</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4d6f41b653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4d6f41b65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31" name="Shape 131"/>
        <p:cNvGrpSpPr/>
        <p:nvPr/>
      </p:nvGrpSpPr>
      <p:grpSpPr>
        <a:xfrm>
          <a:off x="0" y="0"/>
          <a:ext cx="0" cy="0"/>
          <a:chOff x="0" y="0"/>
          <a:chExt cx="0" cy="0"/>
        </a:xfrm>
      </p:grpSpPr>
      <p:sp>
        <p:nvSpPr>
          <p:cNvPr id="132" name="Google Shape;132;p23"/>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33" name="Google Shape;133;p23"/>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34" name="Google Shape;134;p23"/>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35" name="Google Shape;135;p23"/>
          <p:cNvSpPr/>
          <p:nvPr>
            <p:ph idx="3" type="pic"/>
          </p:nvPr>
        </p:nvSpPr>
        <p:spPr>
          <a:xfrm>
            <a:off x="4437578" y="2171250"/>
            <a:ext cx="4509600" cy="2775600"/>
          </a:xfrm>
          <a:prstGeom prst="round2DiagRect">
            <a:avLst>
              <a:gd fmla="val 16667" name="adj1"/>
              <a:gd fmla="val 0" name="adj2"/>
            </a:avLst>
          </a:prstGeom>
          <a:noFill/>
          <a:ln>
            <a:noFill/>
          </a:ln>
        </p:spPr>
      </p:sp>
      <p:sp>
        <p:nvSpPr>
          <p:cNvPr id="136" name="Google Shape;136;p23"/>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37" name="Shape 137"/>
        <p:cNvGrpSpPr/>
        <p:nvPr/>
      </p:nvGrpSpPr>
      <p:grpSpPr>
        <a:xfrm>
          <a:off x="0" y="0"/>
          <a:ext cx="0" cy="0"/>
          <a:chOff x="0" y="0"/>
          <a:chExt cx="0" cy="0"/>
        </a:xfrm>
      </p:grpSpPr>
      <p:sp>
        <p:nvSpPr>
          <p:cNvPr id="138" name="Google Shape;138;p24"/>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9" name="Google Shape;13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24"/>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1" name="Google Shape;141;p24"/>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2" name="Google Shape;142;p24"/>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24"/>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4" name="Google Shape;144;p2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45" name="Google Shape;145;p24"/>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46" name="Shape 146"/>
        <p:cNvGrpSpPr/>
        <p:nvPr/>
      </p:nvGrpSpPr>
      <p:grpSpPr>
        <a:xfrm>
          <a:off x="0" y="0"/>
          <a:ext cx="0" cy="0"/>
          <a:chOff x="0" y="0"/>
          <a:chExt cx="0" cy="0"/>
        </a:xfrm>
      </p:grpSpPr>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5"/>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49" name="Google Shape;149;p25"/>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50" name="Google Shape;150;p25"/>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51" name="Shape 151"/>
        <p:cNvGrpSpPr/>
        <p:nvPr/>
      </p:nvGrpSpPr>
      <p:grpSpPr>
        <a:xfrm>
          <a:off x="0" y="0"/>
          <a:ext cx="0" cy="0"/>
          <a:chOff x="0" y="0"/>
          <a:chExt cx="0" cy="0"/>
        </a:xfrm>
      </p:grpSpPr>
      <p:sp>
        <p:nvSpPr>
          <p:cNvPr id="152" name="Google Shape;15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6"/>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54" name="Google Shape;154;p26"/>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55" name="Google Shape;155;p2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156" name="Shape 156"/>
        <p:cNvGrpSpPr/>
        <p:nvPr/>
      </p:nvGrpSpPr>
      <p:grpSpPr>
        <a:xfrm>
          <a:off x="0" y="0"/>
          <a:ext cx="0" cy="0"/>
          <a:chOff x="0" y="0"/>
          <a:chExt cx="0" cy="0"/>
        </a:xfrm>
      </p:grpSpPr>
      <p:sp>
        <p:nvSpPr>
          <p:cNvPr id="157" name="Google Shape;157;p27"/>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27"/>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159" name="Google Shape;15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27"/>
          <p:cNvSpPr/>
          <p:nvPr>
            <p:ph idx="2" type="pic"/>
          </p:nvPr>
        </p:nvSpPr>
        <p:spPr>
          <a:xfrm>
            <a:off x="3726325" y="669925"/>
            <a:ext cx="5220900" cy="4276800"/>
          </a:xfrm>
          <a:prstGeom prst="round2DiagRect">
            <a:avLst>
              <a:gd fmla="val 16667" name="adj1"/>
              <a:gd fmla="val 0" name="adj2"/>
            </a:avLst>
          </a:prstGeom>
          <a:noFill/>
          <a:ln>
            <a:noFill/>
          </a:ln>
        </p:spPr>
      </p:sp>
      <p:sp>
        <p:nvSpPr>
          <p:cNvPr id="161" name="Google Shape;161;p27"/>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62" name="Google Shape;162;p27"/>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163" name="Shape 163"/>
        <p:cNvGrpSpPr/>
        <p:nvPr/>
      </p:nvGrpSpPr>
      <p:grpSpPr>
        <a:xfrm>
          <a:off x="0" y="0"/>
          <a:ext cx="0" cy="0"/>
          <a:chOff x="0" y="0"/>
          <a:chExt cx="0" cy="0"/>
        </a:xfrm>
      </p:grpSpPr>
      <p:sp>
        <p:nvSpPr>
          <p:cNvPr id="164" name="Google Shape;164;p28"/>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165" name="Google Shape;165;p28"/>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166" name="Google Shape;16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p:nvPr>
            <p:ph idx="2" type="pic"/>
          </p:nvPr>
        </p:nvSpPr>
        <p:spPr>
          <a:xfrm>
            <a:off x="3726325" y="669925"/>
            <a:ext cx="5220900" cy="4276800"/>
          </a:xfrm>
          <a:prstGeom prst="round2DiagRect">
            <a:avLst>
              <a:gd fmla="val 16667" name="adj1"/>
              <a:gd fmla="val 0" name="adj2"/>
            </a:avLst>
          </a:prstGeom>
          <a:noFill/>
          <a:ln>
            <a:noFill/>
          </a:ln>
        </p:spPr>
      </p:sp>
      <p:sp>
        <p:nvSpPr>
          <p:cNvPr id="168" name="Google Shape;168;p28"/>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69" name="Google Shape;169;p28"/>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170" name="Google Shape;170;p28"/>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171" name="Shape 171"/>
        <p:cNvGrpSpPr/>
        <p:nvPr/>
      </p:nvGrpSpPr>
      <p:grpSpPr>
        <a:xfrm>
          <a:off x="0" y="0"/>
          <a:ext cx="0" cy="0"/>
          <a:chOff x="0" y="0"/>
          <a:chExt cx="0" cy="0"/>
        </a:xfrm>
      </p:grpSpPr>
      <p:sp>
        <p:nvSpPr>
          <p:cNvPr id="172" name="Google Shape;172;p29"/>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73" name="Google Shape;17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175" name="Google Shape;175;p2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176" name="Google Shape;176;p29"/>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77" name="Google Shape;177;p2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178" name="Shape 178"/>
        <p:cNvGrpSpPr/>
        <p:nvPr/>
      </p:nvGrpSpPr>
      <p:grpSpPr>
        <a:xfrm>
          <a:off x="0" y="0"/>
          <a:ext cx="0" cy="0"/>
          <a:chOff x="0" y="0"/>
          <a:chExt cx="0" cy="0"/>
        </a:xfrm>
      </p:grpSpPr>
      <p:sp>
        <p:nvSpPr>
          <p:cNvPr id="179" name="Google Shape;17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30"/>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1" name="Google Shape;181;p30"/>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2" name="Google Shape;182;p30"/>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3" name="Google Shape;183;p30"/>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4" name="Google Shape;184;p30"/>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5" name="Google Shape;185;p30"/>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6" name="Google Shape;186;p30"/>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7" name="Google Shape;187;p30"/>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8" name="Google Shape;188;p30"/>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9" name="Google Shape;189;p30"/>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0" name="Google Shape;190;p30"/>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1" name="Google Shape;191;p30"/>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2" name="Google Shape;192;p30"/>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3" name="Google Shape;193;p30"/>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4" name="Google Shape;194;p30"/>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5" name="Google Shape;195;p30"/>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6" name="Google Shape;196;p30"/>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7" name="Google Shape;197;p30"/>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8" name="Google Shape;198;p30"/>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9" name="Google Shape;199;p30"/>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0" name="Google Shape;200;p30"/>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1" name="Google Shape;201;p30"/>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2" name="Google Shape;202;p30"/>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3" name="Google Shape;203;p30"/>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4" name="Google Shape;204;p30"/>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5" name="Google Shape;205;p30"/>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6" name="Google Shape;206;p30"/>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7" name="Google Shape;207;p30"/>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08" name="Google Shape;208;p30"/>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09" name="Shape 209"/>
        <p:cNvGrpSpPr/>
        <p:nvPr/>
      </p:nvGrpSpPr>
      <p:grpSpPr>
        <a:xfrm>
          <a:off x="0" y="0"/>
          <a:ext cx="0" cy="0"/>
          <a:chOff x="0" y="0"/>
          <a:chExt cx="0" cy="0"/>
        </a:xfrm>
      </p:grpSpPr>
      <p:sp>
        <p:nvSpPr>
          <p:cNvPr id="210" name="Google Shape;21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31"/>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12" name="Google Shape;212;p3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5">
    <p:spTree>
      <p:nvGrpSpPr>
        <p:cNvPr id="213" name="Shape 213"/>
        <p:cNvGrpSpPr/>
        <p:nvPr/>
      </p:nvGrpSpPr>
      <p:grpSpPr>
        <a:xfrm>
          <a:off x="0" y="0"/>
          <a:ext cx="0" cy="0"/>
          <a:chOff x="0" y="0"/>
          <a:chExt cx="0" cy="0"/>
        </a:xfrm>
      </p:grpSpPr>
      <p:sp>
        <p:nvSpPr>
          <p:cNvPr id="214" name="Google Shape;214;p3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5" name="Google Shape;215;p32"/>
          <p:cNvGrpSpPr/>
          <p:nvPr/>
        </p:nvGrpSpPr>
        <p:grpSpPr>
          <a:xfrm>
            <a:off x="0" y="490"/>
            <a:ext cx="5153705" cy="5134399"/>
            <a:chOff x="0" y="75"/>
            <a:chExt cx="5153705" cy="5152950"/>
          </a:xfrm>
        </p:grpSpPr>
        <p:sp>
          <p:nvSpPr>
            <p:cNvPr id="216" name="Google Shape;216;p3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0" name="Google Shape;220;p3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1" name="Google Shape;221;p3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222" name="Google Shape;22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223" name="Shape 223"/>
        <p:cNvGrpSpPr/>
        <p:nvPr/>
      </p:nvGrpSpPr>
      <p:grpSpPr>
        <a:xfrm>
          <a:off x="0" y="0"/>
          <a:ext cx="0" cy="0"/>
          <a:chOff x="0" y="0"/>
          <a:chExt cx="0" cy="0"/>
        </a:xfrm>
      </p:grpSpPr>
      <p:grpSp>
        <p:nvGrpSpPr>
          <p:cNvPr id="224" name="Google Shape;224;p33"/>
          <p:cNvGrpSpPr/>
          <p:nvPr/>
        </p:nvGrpSpPr>
        <p:grpSpPr>
          <a:xfrm>
            <a:off x="0" y="381001"/>
            <a:ext cx="1037850" cy="1016287"/>
            <a:chOff x="0" y="381001"/>
            <a:chExt cx="1037850" cy="1016287"/>
          </a:xfrm>
        </p:grpSpPr>
        <p:sp>
          <p:nvSpPr>
            <p:cNvPr id="225" name="Google Shape;225;p3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7" name="Google Shape;227;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28" name="Google Shape;228;p3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9" name="Google Shape;22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2.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8.jpg"/><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5.xml"/><Relationship Id="rId3" Type="http://schemas.openxmlformats.org/officeDocument/2006/relationships/hyperlink" Target="https://www.valleymetro.org/about/agency/transit-performance/finance-budget-reports" TargetMode="External"/><Relationship Id="rId4" Type="http://schemas.openxmlformats.org/officeDocument/2006/relationships/hyperlink" Target="https://www.valleymetro.org/about/agency/transit-performance/ridership-reports" TargetMode="External"/><Relationship Id="rId9" Type="http://schemas.openxmlformats.org/officeDocument/2006/relationships/hyperlink" Target="https://www.census.gov/geographies/mapping-files/time-series/geo/tiger-line-file.html" TargetMode="External"/><Relationship Id="rId5" Type="http://schemas.openxmlformats.org/officeDocument/2006/relationships/hyperlink" Target="https://data.mesaaz.gov/Transit-Services/Bus-Ridership/nmjv-498y/about_data" TargetMode="External"/><Relationship Id="rId6" Type="http://schemas.openxmlformats.org/officeDocument/2006/relationships/hyperlink" Target="https://data.mesaaz.gov/Environmental-and-Sustainability/City-Energy-Usage/ksen-g4gs/about_data" TargetMode="External"/><Relationship Id="rId7" Type="http://schemas.openxmlformats.org/officeDocument/2006/relationships/hyperlink" Target="https://data.mesaaz.gov/Planes-Trains-Automobiles/Bus-Ridership-by-Month/mnst-39et" TargetMode="External"/><Relationship Id="rId8" Type="http://schemas.openxmlformats.org/officeDocument/2006/relationships/hyperlink" Target="https://www.ncdc.noaa.gov/cdo-web/api/v2/data" TargetMode="External"/><Relationship Id="rId10" Type="http://schemas.openxmlformats.org/officeDocument/2006/relationships/hyperlink" Target="https://opengis.mesaaz.gov/datasets/b56f02cdc87643b593ceebcd28669564_0/explore?location=33.394749%2C-111.737377%2C11.6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ph idx="4" type="body"/>
          </p:nvPr>
        </p:nvSpPr>
        <p:spPr>
          <a:xfrm>
            <a:off x="8208751" y="196725"/>
            <a:ext cx="812400" cy="2091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SPRING ‘25</a:t>
            </a:r>
            <a:endParaRPr/>
          </a:p>
        </p:txBody>
      </p:sp>
      <p:sp>
        <p:nvSpPr>
          <p:cNvPr id="235" name="Google Shape;235;p34"/>
          <p:cNvSpPr txBox="1"/>
          <p:nvPr>
            <p:ph type="ctrTitle"/>
          </p:nvPr>
        </p:nvSpPr>
        <p:spPr>
          <a:xfrm>
            <a:off x="196950" y="223825"/>
            <a:ext cx="8011800" cy="187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450"/>
              <a:t>Reducing Carbon Emissions in Mesa</a:t>
            </a:r>
            <a:r>
              <a:rPr lang="en" sz="5450"/>
              <a:t>, AZ</a:t>
            </a:r>
            <a:endParaRPr sz="5450"/>
          </a:p>
        </p:txBody>
      </p:sp>
      <p:sp>
        <p:nvSpPr>
          <p:cNvPr id="236" name="Google Shape;236;p34"/>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Venus</a:t>
            </a:r>
            <a:endParaRPr/>
          </a:p>
        </p:txBody>
      </p:sp>
      <p:sp>
        <p:nvSpPr>
          <p:cNvPr id="237" name="Google Shape;237;p34"/>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1600"/>
              <a:t>FSE 570</a:t>
            </a:r>
            <a:endParaRPr sz="1600"/>
          </a:p>
        </p:txBody>
      </p:sp>
      <p:pic>
        <p:nvPicPr>
          <p:cNvPr id="238" name="Google Shape;238;p34"/>
          <p:cNvPicPr preferRelativeResize="0"/>
          <p:nvPr/>
        </p:nvPicPr>
        <p:blipFill>
          <a:blip r:embed="rId3">
            <a:alphaModFix/>
          </a:blip>
          <a:stretch>
            <a:fillRect/>
          </a:stretch>
        </p:blipFill>
        <p:spPr>
          <a:xfrm>
            <a:off x="4784250" y="2171250"/>
            <a:ext cx="4106700" cy="27378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4" name="Google Shape;244;p35"/>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Introduction</a:t>
            </a:r>
            <a:endParaRPr b="1" sz="3650">
              <a:solidFill>
                <a:schemeClr val="dk1"/>
              </a:solidFill>
              <a:latin typeface="Merriweather"/>
              <a:ea typeface="Merriweather"/>
              <a:cs typeface="Merriweather"/>
              <a:sym typeface="Merriweather"/>
            </a:endParaRPr>
          </a:p>
        </p:txBody>
      </p:sp>
      <p:sp>
        <p:nvSpPr>
          <p:cNvPr id="245" name="Google Shape;245;p35"/>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Objectives</a:t>
            </a:r>
            <a:endParaRPr b="1" sz="3650">
              <a:solidFill>
                <a:schemeClr val="accent2"/>
              </a:solidFill>
              <a:latin typeface="Merriweather"/>
              <a:ea typeface="Merriweather"/>
              <a:cs typeface="Merriweather"/>
              <a:sym typeface="Merriweather"/>
            </a:endParaRPr>
          </a:p>
        </p:txBody>
      </p:sp>
      <p:sp>
        <p:nvSpPr>
          <p:cNvPr id="246" name="Google Shape;246;p35"/>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Methodology</a:t>
            </a:r>
            <a:endParaRPr b="1" sz="3650">
              <a:solidFill>
                <a:schemeClr val="accent2"/>
              </a:solidFill>
              <a:latin typeface="Merriweather"/>
              <a:ea typeface="Merriweather"/>
              <a:cs typeface="Merriweather"/>
              <a:sym typeface="Merriweather"/>
            </a:endParaRPr>
          </a:p>
        </p:txBody>
      </p:sp>
      <p:sp>
        <p:nvSpPr>
          <p:cNvPr id="247" name="Google Shape;247;p35"/>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Results</a:t>
            </a:r>
            <a:endParaRPr b="1" sz="3650">
              <a:solidFill>
                <a:schemeClr val="accent2"/>
              </a:solidFill>
              <a:latin typeface="Merriweather"/>
              <a:ea typeface="Merriweather"/>
              <a:cs typeface="Merriweather"/>
              <a:sym typeface="Merriweather"/>
            </a:endParaRPr>
          </a:p>
        </p:txBody>
      </p:sp>
      <p:sp>
        <p:nvSpPr>
          <p:cNvPr id="248" name="Google Shape;248;p35"/>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Conclusion and Significance</a:t>
            </a:r>
            <a:endParaRPr b="1" sz="3650">
              <a:solidFill>
                <a:schemeClr val="accent2"/>
              </a:solidFill>
              <a:latin typeface="Merriweather"/>
              <a:ea typeface="Merriweather"/>
              <a:cs typeface="Merriweather"/>
              <a:sym typeface="Merriweather"/>
            </a:endParaRPr>
          </a:p>
        </p:txBody>
      </p:sp>
      <p:sp>
        <p:nvSpPr>
          <p:cNvPr id="249" name="Google Shape;249;p35"/>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1.</a:t>
            </a:r>
            <a:endParaRPr b="1" sz="1450">
              <a:solidFill>
                <a:schemeClr val="dk1"/>
              </a:solidFill>
              <a:latin typeface="Merriweather"/>
              <a:ea typeface="Merriweather"/>
              <a:cs typeface="Merriweather"/>
              <a:sym typeface="Merriweather"/>
            </a:endParaRPr>
          </a:p>
        </p:txBody>
      </p:sp>
      <p:sp>
        <p:nvSpPr>
          <p:cNvPr id="250" name="Google Shape;250;p35"/>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251" name="Google Shape;251;p35"/>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252" name="Google Shape;252;p35"/>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253" name="Google Shape;253;p35"/>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Quick Numbers</a:t>
            </a:r>
            <a:endParaRPr sz="3000"/>
          </a:p>
        </p:txBody>
      </p:sp>
      <p:sp>
        <p:nvSpPr>
          <p:cNvPr id="259" name="Google Shape;259;p3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650">
                <a:solidFill>
                  <a:schemeClr val="dk1"/>
                </a:solidFill>
                <a:latin typeface="Merriweather"/>
                <a:ea typeface="Merriweather"/>
                <a:cs typeface="Merriweather"/>
                <a:sym typeface="Merriweather"/>
              </a:rPr>
              <a:t>645 heat related deaths in Maricopa County in 2023</a:t>
            </a:r>
            <a:endParaRPr sz="1650">
              <a:solidFill>
                <a:schemeClr val="dk1"/>
              </a:solidFill>
              <a:latin typeface="Merriweather"/>
              <a:ea typeface="Merriweather"/>
              <a:cs typeface="Merriweather"/>
              <a:sym typeface="Merriweather"/>
            </a:endParaRPr>
          </a:p>
          <a:p>
            <a:pPr indent="-336550" lvl="0" marL="457200" rtl="0" algn="l">
              <a:spcBef>
                <a:spcPts val="0"/>
              </a:spcBef>
              <a:spcAft>
                <a:spcPts val="0"/>
              </a:spcAft>
              <a:buSzPts val="1700"/>
              <a:buChar char="●"/>
            </a:pPr>
            <a:r>
              <a:rPr lang="en" sz="1650">
                <a:solidFill>
                  <a:schemeClr val="dk1"/>
                </a:solidFill>
                <a:latin typeface="Merriweather"/>
                <a:ea typeface="Merriweather"/>
                <a:cs typeface="Merriweather"/>
                <a:sym typeface="Merriweather"/>
              </a:rPr>
              <a:t>Phoenix is top 5 worst cities in the US for ozone pollution (lung.org)</a:t>
            </a:r>
            <a:endParaRPr sz="1650">
              <a:solidFill>
                <a:schemeClr val="dk1"/>
              </a:solidFill>
              <a:latin typeface="Merriweather"/>
              <a:ea typeface="Merriweather"/>
              <a:cs typeface="Merriweather"/>
              <a:sym typeface="Merriweather"/>
            </a:endParaRPr>
          </a:p>
          <a:p>
            <a:pPr indent="-336550" lvl="0" marL="457200" rtl="0" algn="l">
              <a:spcBef>
                <a:spcPts val="0"/>
              </a:spcBef>
              <a:spcAft>
                <a:spcPts val="0"/>
              </a:spcAft>
              <a:buSzPts val="1700"/>
              <a:buChar char="●"/>
            </a:pPr>
            <a:r>
              <a:rPr lang="en" sz="1650">
                <a:solidFill>
                  <a:schemeClr val="dk1"/>
                </a:solidFill>
                <a:latin typeface="Merriweather"/>
                <a:ea typeface="Merriweather"/>
                <a:cs typeface="Merriweather"/>
                <a:sym typeface="Merriweather"/>
              </a:rPr>
              <a:t>100+ degree days expected to rise by over 25% in the coming years</a:t>
            </a:r>
            <a:endParaRPr sz="1650">
              <a:solidFill>
                <a:schemeClr val="dk1"/>
              </a:solidFill>
              <a:latin typeface="Merriweather"/>
              <a:ea typeface="Merriweather"/>
              <a:cs typeface="Merriweather"/>
              <a:sym typeface="Merriweath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37"/>
          <p:cNvSpPr txBox="1"/>
          <p:nvPr>
            <p:ph idx="1" type="subTitle"/>
          </p:nvPr>
        </p:nvSpPr>
        <p:spPr>
          <a:xfrm>
            <a:off x="975300" y="468525"/>
            <a:ext cx="7193400" cy="45714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a:t>Mesa’s average daily temperature has climbed by roughly 2</a:t>
            </a:r>
            <a:r>
              <a:rPr baseline="30000" lang="en"/>
              <a:t>o </a:t>
            </a:r>
            <a:r>
              <a:rPr lang="en"/>
              <a:t>F over the past two decades, resulting in 80+ days per year above 100</a:t>
            </a:r>
            <a:r>
              <a:rPr baseline="30000" lang="en"/>
              <a:t>o </a:t>
            </a:r>
            <a:r>
              <a:rPr lang="en"/>
              <a:t>F.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en"/>
              <a:t>Vehicle-based CO</a:t>
            </a:r>
            <a:r>
              <a:rPr baseline="-25000" lang="en"/>
              <a:t>2</a:t>
            </a:r>
            <a:r>
              <a:rPr lang="en"/>
              <a:t> emissions, which make up nearly one-third of the city’s greenhouse gases are the primary driver of this warning and the urban heat island effect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38"/>
          <p:cNvPicPr preferRelativeResize="0"/>
          <p:nvPr/>
        </p:nvPicPr>
        <p:blipFill>
          <a:blip r:embed="rId3">
            <a:alphaModFix/>
          </a:blip>
          <a:stretch>
            <a:fillRect/>
          </a:stretch>
        </p:blipFill>
        <p:spPr>
          <a:xfrm>
            <a:off x="768336" y="2109150"/>
            <a:ext cx="7607327" cy="2837901"/>
          </a:xfrm>
          <a:prstGeom prst="rect">
            <a:avLst/>
          </a:prstGeom>
          <a:noFill/>
          <a:ln>
            <a:noFill/>
          </a:ln>
        </p:spPr>
      </p:pic>
      <p:sp>
        <p:nvSpPr>
          <p:cNvPr id="271" name="Google Shape;271;p38"/>
          <p:cNvSpPr txBox="1"/>
          <p:nvPr/>
        </p:nvSpPr>
        <p:spPr>
          <a:xfrm>
            <a:off x="768375" y="582700"/>
            <a:ext cx="7607400" cy="10758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15000"/>
              </a:lnSpc>
              <a:spcBef>
                <a:spcPts val="0"/>
              </a:spcBef>
              <a:spcAft>
                <a:spcPts val="0"/>
              </a:spcAft>
              <a:buClr>
                <a:schemeClr val="dk2"/>
              </a:buClr>
              <a:buSzPts val="1700"/>
              <a:buFont typeface="DM Sans"/>
              <a:buChar char="●"/>
            </a:pPr>
            <a:r>
              <a:rPr lang="en" sz="1650">
                <a:solidFill>
                  <a:schemeClr val="dk1"/>
                </a:solidFill>
                <a:latin typeface="Merriweather"/>
                <a:ea typeface="Merriweather"/>
                <a:cs typeface="Merriweather"/>
                <a:sym typeface="Merriweather"/>
              </a:rPr>
              <a:t>Monthly bus ridership since January 2014</a:t>
            </a:r>
            <a:endParaRPr sz="1650">
              <a:solidFill>
                <a:schemeClr val="dk1"/>
              </a:solidFill>
              <a:latin typeface="Merriweather"/>
              <a:ea typeface="Merriweather"/>
              <a:cs typeface="Merriweather"/>
              <a:sym typeface="Merriweather"/>
            </a:endParaRPr>
          </a:p>
          <a:p>
            <a:pPr indent="-336550" lvl="0" marL="457200" marR="0" rtl="0" algn="l">
              <a:lnSpc>
                <a:spcPct val="115000"/>
              </a:lnSpc>
              <a:spcBef>
                <a:spcPts val="0"/>
              </a:spcBef>
              <a:spcAft>
                <a:spcPts val="0"/>
              </a:spcAft>
              <a:buClr>
                <a:schemeClr val="dk2"/>
              </a:buClr>
              <a:buSzPts val="1700"/>
              <a:buFont typeface="DM Sans"/>
              <a:buChar char="●"/>
            </a:pPr>
            <a:r>
              <a:rPr lang="en" sz="1650">
                <a:solidFill>
                  <a:schemeClr val="dk1"/>
                </a:solidFill>
                <a:latin typeface="Merriweather"/>
                <a:ea typeface="Merriweather"/>
                <a:cs typeface="Merriweather"/>
                <a:sym typeface="Merriweather"/>
              </a:rPr>
              <a:t>2021 and 2022 were the worst years - likely due to the </a:t>
            </a:r>
            <a:r>
              <a:rPr lang="en" sz="1650">
                <a:solidFill>
                  <a:schemeClr val="dk1"/>
                </a:solidFill>
                <a:latin typeface="Merriweather"/>
                <a:ea typeface="Merriweather"/>
                <a:cs typeface="Merriweather"/>
                <a:sym typeface="Merriweather"/>
              </a:rPr>
              <a:t>pandemic</a:t>
            </a:r>
            <a:endParaRPr sz="1650">
              <a:solidFill>
                <a:schemeClr val="dk1"/>
              </a:solidFill>
              <a:latin typeface="Merriweather"/>
              <a:ea typeface="Merriweather"/>
              <a:cs typeface="Merriweather"/>
              <a:sym typeface="Merriweather"/>
            </a:endParaRPr>
          </a:p>
          <a:p>
            <a:pPr indent="-336550" lvl="0" marL="457200" marR="0" rtl="0" algn="l">
              <a:lnSpc>
                <a:spcPct val="115000"/>
              </a:lnSpc>
              <a:spcBef>
                <a:spcPts val="0"/>
              </a:spcBef>
              <a:spcAft>
                <a:spcPts val="0"/>
              </a:spcAft>
              <a:buClr>
                <a:schemeClr val="dk2"/>
              </a:buClr>
              <a:buSzPts val="1700"/>
              <a:buFont typeface="DM Sans"/>
              <a:buChar char="●"/>
            </a:pPr>
            <a:r>
              <a:rPr lang="en" sz="1650">
                <a:solidFill>
                  <a:schemeClr val="dk1"/>
                </a:solidFill>
                <a:latin typeface="Merriweather"/>
                <a:ea typeface="Merriweather"/>
                <a:cs typeface="Merriweather"/>
                <a:sym typeface="Merriweather"/>
              </a:rPr>
              <a:t>Current ridership is still not as high as pre-pandemic (recession?)</a:t>
            </a:r>
            <a:endParaRPr sz="1700">
              <a:solidFill>
                <a:schemeClr val="dk2"/>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39"/>
          <p:cNvSpPr txBox="1"/>
          <p:nvPr>
            <p:ph idx="1" type="subTitle"/>
          </p:nvPr>
        </p:nvSpPr>
        <p:spPr>
          <a:xfrm>
            <a:off x="975300" y="849300"/>
            <a:ext cx="7193400" cy="37635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a:t>Forecasts performed project another ~ 1</a:t>
            </a:r>
            <a:r>
              <a:rPr baseline="30000" lang="en" sz="2700"/>
              <a:t>o </a:t>
            </a:r>
            <a:r>
              <a:rPr lang="en"/>
              <a:t>F rise by 2029, intensifying heat related health risks.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en"/>
              <a:t>Yet monthly bus boardings have </a:t>
            </a:r>
            <a:r>
              <a:rPr lang="en"/>
              <a:t>flatlined</a:t>
            </a:r>
            <a:r>
              <a:rPr lang="en"/>
              <a:t> despite a 10% population increase, leaving a major opportunity for transit authorities to curb  </a:t>
            </a:r>
            <a:r>
              <a:rPr lang="en"/>
              <a:t>emissions</a:t>
            </a:r>
            <a:r>
              <a:rPr lang="en"/>
              <a:t>, unfulfilled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0"/>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Introduction</a:t>
            </a:r>
            <a:endParaRPr b="1" sz="3650">
              <a:solidFill>
                <a:schemeClr val="accent2"/>
              </a:solidFill>
              <a:latin typeface="Merriweather"/>
              <a:ea typeface="Merriweather"/>
              <a:cs typeface="Merriweather"/>
              <a:sym typeface="Merriweather"/>
            </a:endParaRPr>
          </a:p>
        </p:txBody>
      </p:sp>
      <p:sp>
        <p:nvSpPr>
          <p:cNvPr id="284" name="Google Shape;284;p40"/>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Objectives</a:t>
            </a:r>
            <a:endParaRPr b="1" sz="3650">
              <a:solidFill>
                <a:schemeClr val="dk1"/>
              </a:solidFill>
              <a:latin typeface="Merriweather"/>
              <a:ea typeface="Merriweather"/>
              <a:cs typeface="Merriweather"/>
              <a:sym typeface="Merriweather"/>
            </a:endParaRPr>
          </a:p>
        </p:txBody>
      </p:sp>
      <p:sp>
        <p:nvSpPr>
          <p:cNvPr id="285" name="Google Shape;285;p40"/>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Methodology		</a:t>
            </a:r>
            <a:endParaRPr b="1" sz="3650">
              <a:solidFill>
                <a:schemeClr val="accent2"/>
              </a:solidFill>
              <a:latin typeface="Merriweather"/>
              <a:ea typeface="Merriweather"/>
              <a:cs typeface="Merriweather"/>
              <a:sym typeface="Merriweather"/>
            </a:endParaRPr>
          </a:p>
        </p:txBody>
      </p:sp>
      <p:sp>
        <p:nvSpPr>
          <p:cNvPr id="286" name="Google Shape;286;p40"/>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Results</a:t>
            </a:r>
            <a:endParaRPr b="1" sz="3650">
              <a:solidFill>
                <a:schemeClr val="accent2"/>
              </a:solidFill>
              <a:latin typeface="Merriweather"/>
              <a:ea typeface="Merriweather"/>
              <a:cs typeface="Merriweather"/>
              <a:sym typeface="Merriweather"/>
            </a:endParaRPr>
          </a:p>
        </p:txBody>
      </p:sp>
      <p:sp>
        <p:nvSpPr>
          <p:cNvPr id="287" name="Google Shape;287;p40"/>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Conclusion and Significance</a:t>
            </a:r>
            <a:endParaRPr b="1" sz="3650">
              <a:solidFill>
                <a:schemeClr val="accent2"/>
              </a:solidFill>
              <a:latin typeface="Merriweather"/>
              <a:ea typeface="Merriweather"/>
              <a:cs typeface="Merriweather"/>
              <a:sym typeface="Merriweather"/>
            </a:endParaRPr>
          </a:p>
        </p:txBody>
      </p:sp>
      <p:sp>
        <p:nvSpPr>
          <p:cNvPr id="288" name="Google Shape;288;p40"/>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289" name="Google Shape;289;p40"/>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2.</a:t>
            </a:r>
            <a:endParaRPr b="1" sz="1450">
              <a:solidFill>
                <a:schemeClr val="dk1"/>
              </a:solidFill>
              <a:latin typeface="Merriweather"/>
              <a:ea typeface="Merriweather"/>
              <a:cs typeface="Merriweather"/>
              <a:sym typeface="Merriweather"/>
            </a:endParaRPr>
          </a:p>
        </p:txBody>
      </p:sp>
      <p:sp>
        <p:nvSpPr>
          <p:cNvPr id="290" name="Google Shape;290;p40"/>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291" name="Google Shape;291;p40"/>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292" name="Google Shape;292;p40"/>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1"/>
          <p:cNvSpPr txBox="1"/>
          <p:nvPr>
            <p:ph idx="1" type="body"/>
          </p:nvPr>
        </p:nvSpPr>
        <p:spPr>
          <a:xfrm>
            <a:off x="196950" y="1046450"/>
            <a:ext cx="3151800" cy="38556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latin typeface="Merriweather"/>
                <a:ea typeface="Merriweather"/>
                <a:cs typeface="Merriweather"/>
                <a:sym typeface="Merriweather"/>
              </a:rPr>
              <a:t>Identify census tracts underserved by current bus service</a:t>
            </a:r>
            <a:br>
              <a:rPr lang="en" sz="1300">
                <a:latin typeface="Merriweather"/>
                <a:ea typeface="Merriweather"/>
                <a:cs typeface="Merriweather"/>
                <a:sym typeface="Merriweather"/>
              </a:rPr>
            </a:br>
            <a:endParaRPr sz="1300">
              <a:latin typeface="Merriweather"/>
              <a:ea typeface="Merriweather"/>
              <a:cs typeface="Merriweather"/>
              <a:sym typeface="Merriweather"/>
            </a:endParaRPr>
          </a:p>
          <a:p>
            <a:pPr indent="-311150" lvl="0" marL="457200" rtl="0" algn="l">
              <a:spcBef>
                <a:spcPts val="0"/>
              </a:spcBef>
              <a:spcAft>
                <a:spcPts val="0"/>
              </a:spcAft>
              <a:buSzPts val="1300"/>
              <a:buChar char="●"/>
            </a:pPr>
            <a:r>
              <a:rPr lang="en" sz="1300">
                <a:latin typeface="Merriweather"/>
                <a:ea typeface="Merriweather"/>
                <a:cs typeface="Merriweather"/>
                <a:sym typeface="Merriweather"/>
              </a:rPr>
              <a:t>Design new bus routes with stops to enhance coverage</a:t>
            </a:r>
            <a:br>
              <a:rPr lang="en" sz="1300">
                <a:latin typeface="Merriweather"/>
                <a:ea typeface="Merriweather"/>
                <a:cs typeface="Merriweather"/>
                <a:sym typeface="Merriweather"/>
              </a:rPr>
            </a:br>
            <a:endParaRPr sz="1300">
              <a:latin typeface="Merriweather"/>
              <a:ea typeface="Merriweather"/>
              <a:cs typeface="Merriweather"/>
              <a:sym typeface="Merriweather"/>
            </a:endParaRPr>
          </a:p>
          <a:p>
            <a:pPr indent="-311150" lvl="0" marL="457200" rtl="0" algn="l">
              <a:spcBef>
                <a:spcPts val="0"/>
              </a:spcBef>
              <a:spcAft>
                <a:spcPts val="0"/>
              </a:spcAft>
              <a:buSzPts val="1300"/>
              <a:buChar char="●"/>
            </a:pPr>
            <a:r>
              <a:rPr lang="en" sz="1300">
                <a:latin typeface="Merriweather"/>
                <a:ea typeface="Merriweather"/>
                <a:cs typeface="Merriweather"/>
                <a:sym typeface="Merriweather"/>
              </a:rPr>
              <a:t>Forecast Temperature trends to </a:t>
            </a:r>
            <a:r>
              <a:rPr lang="en" sz="1300">
                <a:latin typeface="Merriweather"/>
                <a:ea typeface="Merriweather"/>
                <a:cs typeface="Merriweather"/>
                <a:sym typeface="Merriweather"/>
              </a:rPr>
              <a:t>correlate transit uptake with heat mitigation</a:t>
            </a:r>
            <a:br>
              <a:rPr lang="en" sz="1300">
                <a:latin typeface="Merriweather"/>
                <a:ea typeface="Merriweather"/>
                <a:cs typeface="Merriweather"/>
                <a:sym typeface="Merriweather"/>
              </a:rPr>
            </a:br>
            <a:endParaRPr sz="1300">
              <a:latin typeface="Merriweather"/>
              <a:ea typeface="Merriweather"/>
              <a:cs typeface="Merriweather"/>
              <a:sym typeface="Merriweather"/>
            </a:endParaRPr>
          </a:p>
          <a:p>
            <a:pPr indent="-311150" lvl="0" marL="457200" rtl="0" algn="l">
              <a:spcBef>
                <a:spcPts val="0"/>
              </a:spcBef>
              <a:spcAft>
                <a:spcPts val="0"/>
              </a:spcAft>
              <a:buSzPts val="1300"/>
              <a:buChar char="●"/>
            </a:pPr>
            <a:r>
              <a:rPr lang="en" sz="1300">
                <a:latin typeface="Merriweather"/>
                <a:ea typeface="Merriweather"/>
                <a:cs typeface="Merriweather"/>
                <a:sym typeface="Merriweather"/>
              </a:rPr>
              <a:t>Evaluate financial feasibility and optimal budget allocation</a:t>
            </a:r>
            <a:br>
              <a:rPr lang="en" sz="1300">
                <a:latin typeface="Merriweather"/>
                <a:ea typeface="Merriweather"/>
                <a:cs typeface="Merriweather"/>
                <a:sym typeface="Merriweather"/>
              </a:rPr>
            </a:br>
            <a:endParaRPr sz="1300">
              <a:latin typeface="Merriweather"/>
              <a:ea typeface="Merriweather"/>
              <a:cs typeface="Merriweather"/>
              <a:sym typeface="Merriweather"/>
            </a:endParaRPr>
          </a:p>
          <a:p>
            <a:pPr indent="-311150" lvl="0" marL="457200" rtl="0" algn="l">
              <a:spcBef>
                <a:spcPts val="0"/>
              </a:spcBef>
              <a:spcAft>
                <a:spcPts val="0"/>
              </a:spcAft>
              <a:buSzPts val="1300"/>
              <a:buChar char="●"/>
            </a:pPr>
            <a:r>
              <a:rPr lang="en" sz="1300">
                <a:latin typeface="Merriweather"/>
                <a:ea typeface="Merriweather"/>
                <a:cs typeface="Merriweather"/>
                <a:sym typeface="Merriweather"/>
              </a:rPr>
              <a:t>Estimate potential reduction in CO2 emissions.</a:t>
            </a:r>
            <a:endParaRPr sz="1300">
              <a:latin typeface="Merriweather"/>
              <a:ea typeface="Merriweather"/>
              <a:cs typeface="Merriweather"/>
              <a:sym typeface="Merriweather"/>
            </a:endParaRPr>
          </a:p>
        </p:txBody>
      </p:sp>
      <p:sp>
        <p:nvSpPr>
          <p:cNvPr id="298" name="Google Shape;29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Person working in a greenhouse." id="299" name="Google Shape;299;p41"/>
          <p:cNvPicPr preferRelativeResize="0"/>
          <p:nvPr>
            <p:ph idx="2" type="pic"/>
          </p:nvPr>
        </p:nvPicPr>
        <p:blipFill rotWithShape="1">
          <a:blip r:embed="rId3">
            <a:alphaModFix/>
          </a:blip>
          <a:srcRect b="0" l="9290" r="9290" t="0"/>
          <a:stretch/>
        </p:blipFill>
        <p:spPr>
          <a:xfrm>
            <a:off x="3726325" y="669925"/>
            <a:ext cx="5220900" cy="4276800"/>
          </a:xfrm>
          <a:prstGeom prst="round2DiagRect">
            <a:avLst>
              <a:gd fmla="val 16667" name="adj1"/>
              <a:gd fmla="val 0" name="adj2"/>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42"/>
          <p:cNvSpPr txBox="1"/>
          <p:nvPr/>
        </p:nvSpPr>
        <p:spPr>
          <a:xfrm>
            <a:off x="516437" y="8209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Introduction</a:t>
            </a:r>
            <a:endParaRPr b="1" sz="3650">
              <a:solidFill>
                <a:schemeClr val="accent2"/>
              </a:solidFill>
              <a:latin typeface="Merriweather"/>
              <a:ea typeface="Merriweather"/>
              <a:cs typeface="Merriweather"/>
              <a:sym typeface="Merriweather"/>
            </a:endParaRPr>
          </a:p>
        </p:txBody>
      </p:sp>
      <p:sp>
        <p:nvSpPr>
          <p:cNvPr id="306" name="Google Shape;306;p42"/>
          <p:cNvSpPr txBox="1"/>
          <p:nvPr/>
        </p:nvSpPr>
        <p:spPr>
          <a:xfrm>
            <a:off x="516437" y="16605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Objectives</a:t>
            </a:r>
            <a:endParaRPr b="1" sz="3650">
              <a:solidFill>
                <a:schemeClr val="accent2"/>
              </a:solidFill>
              <a:latin typeface="Merriweather"/>
              <a:ea typeface="Merriweather"/>
              <a:cs typeface="Merriweather"/>
              <a:sym typeface="Merriweather"/>
            </a:endParaRPr>
          </a:p>
        </p:txBody>
      </p:sp>
      <p:sp>
        <p:nvSpPr>
          <p:cNvPr id="307" name="Google Shape;307;p42"/>
          <p:cNvSpPr txBox="1"/>
          <p:nvPr/>
        </p:nvSpPr>
        <p:spPr>
          <a:xfrm>
            <a:off x="516437" y="24999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Methodology</a:t>
            </a:r>
            <a:endParaRPr b="1" sz="3650">
              <a:solidFill>
                <a:schemeClr val="dk1"/>
              </a:solidFill>
              <a:latin typeface="Merriweather"/>
              <a:ea typeface="Merriweather"/>
              <a:cs typeface="Merriweather"/>
              <a:sym typeface="Merriweather"/>
            </a:endParaRPr>
          </a:p>
        </p:txBody>
      </p:sp>
      <p:sp>
        <p:nvSpPr>
          <p:cNvPr id="308" name="Google Shape;308;p42"/>
          <p:cNvSpPr txBox="1"/>
          <p:nvPr/>
        </p:nvSpPr>
        <p:spPr>
          <a:xfrm>
            <a:off x="516437" y="33326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Results</a:t>
            </a:r>
            <a:endParaRPr b="1" sz="3650">
              <a:solidFill>
                <a:schemeClr val="accent2"/>
              </a:solidFill>
              <a:latin typeface="Merriweather"/>
              <a:ea typeface="Merriweather"/>
              <a:cs typeface="Merriweather"/>
              <a:sym typeface="Merriweather"/>
            </a:endParaRPr>
          </a:p>
        </p:txBody>
      </p:sp>
      <p:sp>
        <p:nvSpPr>
          <p:cNvPr id="309" name="Google Shape;309;p42"/>
          <p:cNvSpPr txBox="1"/>
          <p:nvPr/>
        </p:nvSpPr>
        <p:spPr>
          <a:xfrm>
            <a:off x="516437" y="41790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Conclusion and Significance</a:t>
            </a:r>
            <a:endParaRPr b="1" sz="3650">
              <a:solidFill>
                <a:schemeClr val="accent2"/>
              </a:solidFill>
              <a:latin typeface="Merriweather"/>
              <a:ea typeface="Merriweather"/>
              <a:cs typeface="Merriweather"/>
              <a:sym typeface="Merriweather"/>
            </a:endParaRPr>
          </a:p>
        </p:txBody>
      </p:sp>
      <p:sp>
        <p:nvSpPr>
          <p:cNvPr id="310" name="Google Shape;310;p42"/>
          <p:cNvSpPr txBox="1"/>
          <p:nvPr/>
        </p:nvSpPr>
        <p:spPr>
          <a:xfrm>
            <a:off x="196954" y="8209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311" name="Google Shape;311;p42"/>
          <p:cNvSpPr txBox="1"/>
          <p:nvPr/>
        </p:nvSpPr>
        <p:spPr>
          <a:xfrm>
            <a:off x="196954" y="16605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312" name="Google Shape;312;p42"/>
          <p:cNvSpPr txBox="1"/>
          <p:nvPr/>
        </p:nvSpPr>
        <p:spPr>
          <a:xfrm>
            <a:off x="196954" y="24999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3.</a:t>
            </a:r>
            <a:endParaRPr b="1" sz="1450">
              <a:solidFill>
                <a:schemeClr val="dk1"/>
              </a:solidFill>
              <a:latin typeface="Merriweather"/>
              <a:ea typeface="Merriweather"/>
              <a:cs typeface="Merriweather"/>
              <a:sym typeface="Merriweather"/>
            </a:endParaRPr>
          </a:p>
        </p:txBody>
      </p:sp>
      <p:sp>
        <p:nvSpPr>
          <p:cNvPr id="313" name="Google Shape;313;p42"/>
          <p:cNvSpPr txBox="1"/>
          <p:nvPr/>
        </p:nvSpPr>
        <p:spPr>
          <a:xfrm>
            <a:off x="196954" y="33326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314" name="Google Shape;314;p42"/>
          <p:cNvSpPr txBox="1"/>
          <p:nvPr/>
        </p:nvSpPr>
        <p:spPr>
          <a:xfrm>
            <a:off x="196954" y="41790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43"/>
          <p:cNvSpPr txBox="1"/>
          <p:nvPr>
            <p:ph idx="1" type="subTitle"/>
          </p:nvPr>
        </p:nvSpPr>
        <p:spPr>
          <a:xfrm>
            <a:off x="975300" y="547800"/>
            <a:ext cx="7193400" cy="4313700"/>
          </a:xfrm>
          <a:prstGeom prst="rect">
            <a:avLst/>
          </a:prstGeom>
        </p:spPr>
        <p:txBody>
          <a:bodyPr anchorCtr="0" anchor="ctr" bIns="91425" lIns="91425" spcFirstLastPara="1" rIns="91425" wrap="square" tIns="91425">
            <a:spAutoFit/>
          </a:bodyPr>
          <a:lstStyle/>
          <a:p>
            <a:pPr indent="-346075" lvl="0" marL="457200" rtl="0" algn="l">
              <a:lnSpc>
                <a:spcPct val="150000"/>
              </a:lnSpc>
              <a:spcBef>
                <a:spcPts val="0"/>
              </a:spcBef>
              <a:spcAft>
                <a:spcPts val="0"/>
              </a:spcAft>
              <a:buSzPts val="1850"/>
              <a:buAutoNum type="arabicPeriod"/>
            </a:pPr>
            <a:r>
              <a:rPr lang="en" sz="1850"/>
              <a:t>Data Acquisition and Preprocessing in Excel and QGIS.</a:t>
            </a:r>
            <a:endParaRPr sz="1850"/>
          </a:p>
          <a:p>
            <a:pPr indent="-346075" lvl="0" marL="457200" rtl="0" algn="l">
              <a:lnSpc>
                <a:spcPct val="150000"/>
              </a:lnSpc>
              <a:spcBef>
                <a:spcPts val="0"/>
              </a:spcBef>
              <a:spcAft>
                <a:spcPts val="0"/>
              </a:spcAft>
              <a:buSzPts val="1850"/>
              <a:buAutoNum type="arabicPeriod"/>
            </a:pPr>
            <a:r>
              <a:rPr lang="en" sz="1850"/>
              <a:t>Spatial Join and </a:t>
            </a:r>
            <a:r>
              <a:rPr lang="en" sz="1850"/>
              <a:t>Choropleth</a:t>
            </a:r>
            <a:r>
              <a:rPr lang="en" sz="1850"/>
              <a:t> Mapping to reveal service gaps and population comparisons.</a:t>
            </a:r>
            <a:endParaRPr sz="1850"/>
          </a:p>
          <a:p>
            <a:pPr indent="-346075" lvl="0" marL="457200" rtl="0" algn="l">
              <a:lnSpc>
                <a:spcPct val="150000"/>
              </a:lnSpc>
              <a:spcBef>
                <a:spcPts val="0"/>
              </a:spcBef>
              <a:spcAft>
                <a:spcPts val="0"/>
              </a:spcAft>
              <a:buSzPts val="1850"/>
              <a:buAutoNum type="arabicPeriod"/>
            </a:pPr>
            <a:r>
              <a:rPr lang="en" sz="1850"/>
              <a:t>Transit Coverage Analysis : Selecting census tracts without routes.</a:t>
            </a:r>
            <a:endParaRPr sz="1850"/>
          </a:p>
          <a:p>
            <a:pPr indent="-346075" lvl="0" marL="457200" rtl="0" algn="l">
              <a:lnSpc>
                <a:spcPct val="150000"/>
              </a:lnSpc>
              <a:spcBef>
                <a:spcPts val="0"/>
              </a:spcBef>
              <a:spcAft>
                <a:spcPts val="0"/>
              </a:spcAft>
              <a:buSzPts val="1850"/>
              <a:buAutoNum type="arabicPeriod"/>
            </a:pPr>
            <a:r>
              <a:rPr lang="en" sz="1850"/>
              <a:t>Digitizing proposed bus lines and stop locations in QGIS.</a:t>
            </a:r>
            <a:endParaRPr sz="1850"/>
          </a:p>
          <a:p>
            <a:pPr indent="-346075" lvl="0" marL="457200" rtl="0" algn="l">
              <a:lnSpc>
                <a:spcPct val="150000"/>
              </a:lnSpc>
              <a:spcBef>
                <a:spcPts val="0"/>
              </a:spcBef>
              <a:spcAft>
                <a:spcPts val="0"/>
              </a:spcAft>
              <a:buSzPts val="1850"/>
              <a:buAutoNum type="arabicPeriod"/>
            </a:pPr>
            <a:r>
              <a:rPr lang="en" sz="1850"/>
              <a:t>Temperature </a:t>
            </a:r>
            <a:r>
              <a:rPr lang="en" sz="1850"/>
              <a:t>forecasting</a:t>
            </a:r>
            <a:r>
              <a:rPr lang="en" sz="1850"/>
              <a:t> with LSTM (30-day) &amp; ARIMA (5-Year).</a:t>
            </a:r>
            <a:endParaRPr sz="1850"/>
          </a:p>
          <a:p>
            <a:pPr indent="-346075" lvl="0" marL="457200" rtl="0" algn="l">
              <a:lnSpc>
                <a:spcPct val="150000"/>
              </a:lnSpc>
              <a:spcBef>
                <a:spcPts val="0"/>
              </a:spcBef>
              <a:spcAft>
                <a:spcPts val="0"/>
              </a:spcAft>
              <a:buSzPts val="1850"/>
              <a:buAutoNum type="arabicPeriod"/>
            </a:pPr>
            <a:r>
              <a:rPr lang="en" sz="1850"/>
              <a:t>Financial analysis : Budget Reallocation and cost estimates</a:t>
            </a:r>
            <a:endParaRPr sz="185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4"/>
          <p:cNvSpPr txBox="1"/>
          <p:nvPr>
            <p:ph idx="1" type="subTitle"/>
          </p:nvPr>
        </p:nvSpPr>
        <p:spPr>
          <a:xfrm>
            <a:off x="197400" y="241625"/>
            <a:ext cx="8749200" cy="1119000"/>
          </a:xfrm>
          <a:prstGeom prst="rect">
            <a:avLst/>
          </a:prstGeom>
        </p:spPr>
        <p:txBody>
          <a:bodyPr anchorCtr="0" anchor="ctr" bIns="91425" lIns="91425" spcFirstLastPara="1" rIns="91425" wrap="square" tIns="91425">
            <a:spAutoFit/>
          </a:bodyPr>
          <a:lstStyle/>
          <a:p>
            <a:pPr indent="0" lvl="0" marL="457200" rtl="0" algn="ctr">
              <a:lnSpc>
                <a:spcPct val="115000"/>
              </a:lnSpc>
              <a:spcBef>
                <a:spcPts val="0"/>
              </a:spcBef>
              <a:spcAft>
                <a:spcPts val="0"/>
              </a:spcAft>
              <a:buNone/>
            </a:pPr>
            <a:r>
              <a:rPr lang="en" sz="1850">
                <a:solidFill>
                  <a:schemeClr val="accent6"/>
                </a:solidFill>
              </a:rPr>
              <a:t>Temperature Forecasting</a:t>
            </a:r>
            <a:br>
              <a:rPr lang="en" sz="1850">
                <a:solidFill>
                  <a:schemeClr val="accent6"/>
                </a:solidFill>
              </a:rPr>
            </a:br>
            <a:endParaRPr sz="950">
              <a:solidFill>
                <a:schemeClr val="accent6"/>
              </a:solidFill>
            </a:endParaRPr>
          </a:p>
          <a:p>
            <a:pPr indent="0" lvl="0" marL="0" rtl="0" algn="l">
              <a:lnSpc>
                <a:spcPct val="150000"/>
              </a:lnSpc>
              <a:spcBef>
                <a:spcPts val="1200"/>
              </a:spcBef>
              <a:spcAft>
                <a:spcPts val="1200"/>
              </a:spcAft>
              <a:buNone/>
            </a:pPr>
            <a:r>
              <a:t/>
            </a:r>
            <a:endParaRPr sz="1850">
              <a:solidFill>
                <a:schemeClr val="accent6"/>
              </a:solidFill>
            </a:endParaRPr>
          </a:p>
        </p:txBody>
      </p:sp>
      <p:sp>
        <p:nvSpPr>
          <p:cNvPr id="326" name="Google Shape;326;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44"/>
          <p:cNvSpPr txBox="1"/>
          <p:nvPr>
            <p:ph idx="2" type="body"/>
          </p:nvPr>
        </p:nvSpPr>
        <p:spPr>
          <a:xfrm>
            <a:off x="229675" y="646250"/>
            <a:ext cx="8565900" cy="430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Merriweather"/>
                <a:ea typeface="Merriweather"/>
                <a:cs typeface="Merriweather"/>
                <a:sym typeface="Merriweather"/>
              </a:rPr>
              <a:t>LSTM Model (TensorFlow) :</a:t>
            </a:r>
            <a:endParaRPr b="1" sz="1600">
              <a:latin typeface="Merriweather"/>
              <a:ea typeface="Merriweather"/>
              <a:cs typeface="Merriweather"/>
              <a:sym typeface="Merriweather"/>
            </a:endParaRPr>
          </a:p>
          <a:p>
            <a:pPr indent="0" lvl="0" marL="0" rtl="0" algn="l">
              <a:spcBef>
                <a:spcPts val="1200"/>
              </a:spcBef>
              <a:spcAft>
                <a:spcPts val="0"/>
              </a:spcAft>
              <a:buNone/>
            </a:pPr>
            <a:r>
              <a:rPr b="1" lang="en" sz="1600">
                <a:latin typeface="Merriweather"/>
                <a:ea typeface="Merriweather"/>
                <a:cs typeface="Merriweather"/>
                <a:sym typeface="Merriweather"/>
              </a:rPr>
              <a:t>• Forecast next 30 days of average temperatures</a:t>
            </a:r>
            <a:endParaRPr b="1" sz="1600">
              <a:latin typeface="Merriweather"/>
              <a:ea typeface="Merriweather"/>
              <a:cs typeface="Merriweather"/>
              <a:sym typeface="Merriweather"/>
            </a:endParaRPr>
          </a:p>
          <a:p>
            <a:pPr indent="0" lvl="0" marL="0" rtl="0" algn="l">
              <a:spcBef>
                <a:spcPts val="1200"/>
              </a:spcBef>
              <a:spcAft>
                <a:spcPts val="1200"/>
              </a:spcAft>
              <a:buNone/>
            </a:pPr>
            <a:r>
              <a:rPr b="1" lang="en" sz="1600">
                <a:latin typeface="Merriweather"/>
                <a:ea typeface="Merriweather"/>
                <a:cs typeface="Merriweather"/>
                <a:sym typeface="Merriweather"/>
              </a:rPr>
              <a:t> • 2 layers × 50 units, Adam optimizer, MSE loss (20 epochs, batch size 16)</a:t>
            </a:r>
            <a:endParaRPr b="1" sz="1600">
              <a:latin typeface="Merriweather"/>
              <a:ea typeface="Merriweather"/>
              <a:cs typeface="Merriweather"/>
              <a:sym typeface="Merriweather"/>
            </a:endParaRPr>
          </a:p>
        </p:txBody>
      </p:sp>
      <p:pic>
        <p:nvPicPr>
          <p:cNvPr id="328" name="Google Shape;328;p44" title="Screenshot 2025-04-24 at 3.18.54 PM.png"/>
          <p:cNvPicPr preferRelativeResize="0"/>
          <p:nvPr/>
        </p:nvPicPr>
        <p:blipFill>
          <a:blip r:embed="rId3">
            <a:alphaModFix/>
          </a:blip>
          <a:stretch>
            <a:fillRect/>
          </a:stretch>
        </p:blipFill>
        <p:spPr>
          <a:xfrm>
            <a:off x="1470975" y="2238900"/>
            <a:ext cx="6083302" cy="2817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5"/>
          <p:cNvSpPr txBox="1"/>
          <p:nvPr>
            <p:ph idx="1" type="subTitle"/>
          </p:nvPr>
        </p:nvSpPr>
        <p:spPr>
          <a:xfrm>
            <a:off x="197400" y="241625"/>
            <a:ext cx="8749200" cy="1119000"/>
          </a:xfrm>
          <a:prstGeom prst="rect">
            <a:avLst/>
          </a:prstGeom>
        </p:spPr>
        <p:txBody>
          <a:bodyPr anchorCtr="0" anchor="ctr" bIns="91425" lIns="91425" spcFirstLastPara="1" rIns="91425" wrap="square" tIns="91425">
            <a:spAutoFit/>
          </a:bodyPr>
          <a:lstStyle/>
          <a:p>
            <a:pPr indent="0" lvl="0" marL="457200" rtl="0" algn="ctr">
              <a:lnSpc>
                <a:spcPct val="115000"/>
              </a:lnSpc>
              <a:spcBef>
                <a:spcPts val="0"/>
              </a:spcBef>
              <a:spcAft>
                <a:spcPts val="0"/>
              </a:spcAft>
              <a:buNone/>
            </a:pPr>
            <a:r>
              <a:rPr lang="en" sz="1850">
                <a:solidFill>
                  <a:schemeClr val="accent6"/>
                </a:solidFill>
              </a:rPr>
              <a:t>Temperature Forecasting</a:t>
            </a:r>
            <a:br>
              <a:rPr lang="en" sz="1850">
                <a:solidFill>
                  <a:schemeClr val="accent6"/>
                </a:solidFill>
              </a:rPr>
            </a:br>
            <a:endParaRPr sz="950">
              <a:solidFill>
                <a:schemeClr val="accent6"/>
              </a:solidFill>
            </a:endParaRPr>
          </a:p>
          <a:p>
            <a:pPr indent="0" lvl="0" marL="0" rtl="0" algn="l">
              <a:lnSpc>
                <a:spcPct val="150000"/>
              </a:lnSpc>
              <a:spcBef>
                <a:spcPts val="1200"/>
              </a:spcBef>
              <a:spcAft>
                <a:spcPts val="1200"/>
              </a:spcAft>
              <a:buNone/>
            </a:pPr>
            <a:r>
              <a:t/>
            </a:r>
            <a:endParaRPr sz="1850">
              <a:solidFill>
                <a:schemeClr val="accent6"/>
              </a:solidFill>
            </a:endParaRPr>
          </a:p>
        </p:txBody>
      </p:sp>
      <p:sp>
        <p:nvSpPr>
          <p:cNvPr id="334" name="Google Shape;33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45"/>
          <p:cNvSpPr txBox="1"/>
          <p:nvPr>
            <p:ph idx="2" type="body"/>
          </p:nvPr>
        </p:nvSpPr>
        <p:spPr>
          <a:xfrm>
            <a:off x="229675" y="646250"/>
            <a:ext cx="8565900" cy="430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Merriweather"/>
                <a:ea typeface="Merriweather"/>
                <a:cs typeface="Merriweather"/>
                <a:sym typeface="Merriweather"/>
              </a:rPr>
              <a:t>ARIMA</a:t>
            </a:r>
            <a:r>
              <a:rPr b="1" lang="en" sz="1600">
                <a:latin typeface="Merriweather"/>
                <a:ea typeface="Merriweather"/>
                <a:cs typeface="Merriweather"/>
                <a:sym typeface="Merriweather"/>
              </a:rPr>
              <a:t> Model (statsmodels) :</a:t>
            </a:r>
            <a:endParaRPr b="1" sz="1600">
              <a:latin typeface="Merriweather"/>
              <a:ea typeface="Merriweather"/>
              <a:cs typeface="Merriweather"/>
              <a:sym typeface="Merriweather"/>
            </a:endParaRPr>
          </a:p>
          <a:p>
            <a:pPr indent="0" lvl="0" marL="0" rtl="0" algn="l">
              <a:spcBef>
                <a:spcPts val="1200"/>
              </a:spcBef>
              <a:spcAft>
                <a:spcPts val="0"/>
              </a:spcAft>
              <a:buNone/>
            </a:pPr>
            <a:r>
              <a:rPr b="1" lang="en" sz="1600">
                <a:latin typeface="Merriweather"/>
                <a:ea typeface="Merriweather"/>
                <a:cs typeface="Merriweather"/>
                <a:sym typeface="Merriweather"/>
              </a:rPr>
              <a:t>• Project average temperatures 2025–2029</a:t>
            </a:r>
            <a:endParaRPr b="1" sz="1600">
              <a:latin typeface="Merriweather"/>
              <a:ea typeface="Merriweather"/>
              <a:cs typeface="Merriweather"/>
              <a:sym typeface="Merriweather"/>
            </a:endParaRPr>
          </a:p>
          <a:p>
            <a:pPr indent="0" lvl="0" marL="0" rtl="0" algn="l">
              <a:spcBef>
                <a:spcPts val="1200"/>
              </a:spcBef>
              <a:spcAft>
                <a:spcPts val="0"/>
              </a:spcAft>
              <a:buNone/>
            </a:pPr>
            <a:r>
              <a:rPr b="1" lang="en" sz="1600">
                <a:latin typeface="Merriweather"/>
                <a:ea typeface="Merriweather"/>
                <a:cs typeface="Merriweather"/>
                <a:sym typeface="Merriweather"/>
              </a:rPr>
              <a:t> • RMSE = 0.387°C, MSE = 0.362°C</a:t>
            </a:r>
            <a:endParaRPr b="1" sz="1600">
              <a:latin typeface="Merriweather"/>
              <a:ea typeface="Merriweather"/>
              <a:cs typeface="Merriweather"/>
              <a:sym typeface="Merriweather"/>
            </a:endParaRPr>
          </a:p>
          <a:p>
            <a:pPr indent="0" lvl="0" marL="0" rtl="0" algn="l">
              <a:spcBef>
                <a:spcPts val="1200"/>
              </a:spcBef>
              <a:spcAft>
                <a:spcPts val="1200"/>
              </a:spcAft>
              <a:buNone/>
            </a:pPr>
            <a:r>
              <a:t/>
            </a:r>
            <a:endParaRPr b="1" sz="1600">
              <a:latin typeface="Merriweather"/>
              <a:ea typeface="Merriweather"/>
              <a:cs typeface="Merriweather"/>
              <a:sym typeface="Merriweather"/>
            </a:endParaRPr>
          </a:p>
        </p:txBody>
      </p:sp>
      <p:pic>
        <p:nvPicPr>
          <p:cNvPr id="336" name="Google Shape;336;p45"/>
          <p:cNvPicPr preferRelativeResize="0"/>
          <p:nvPr/>
        </p:nvPicPr>
        <p:blipFill>
          <a:blip r:embed="rId3">
            <a:alphaModFix/>
          </a:blip>
          <a:stretch>
            <a:fillRect/>
          </a:stretch>
        </p:blipFill>
        <p:spPr>
          <a:xfrm>
            <a:off x="1515050" y="2152850"/>
            <a:ext cx="5995149" cy="27941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46"/>
          <p:cNvSpPr txBox="1"/>
          <p:nvPr>
            <p:ph idx="2" type="body"/>
          </p:nvPr>
        </p:nvSpPr>
        <p:spPr>
          <a:xfrm>
            <a:off x="229675" y="646250"/>
            <a:ext cx="8565900" cy="430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latin typeface="Merriweather"/>
              <a:ea typeface="Merriweather"/>
              <a:cs typeface="Merriweather"/>
              <a:sym typeface="Merriweather"/>
            </a:endParaRPr>
          </a:p>
          <a:p>
            <a:pPr indent="-323850" lvl="0" marL="457200" rtl="0" algn="l">
              <a:spcBef>
                <a:spcPts val="1200"/>
              </a:spcBef>
              <a:spcAft>
                <a:spcPts val="0"/>
              </a:spcAft>
              <a:buSzPts val="1500"/>
              <a:buFont typeface="Merriweather"/>
              <a:buChar char="●"/>
            </a:pPr>
            <a:r>
              <a:rPr b="1" lang="en" sz="1600">
                <a:latin typeface="Merriweather"/>
                <a:ea typeface="Merriweather"/>
                <a:cs typeface="Merriweather"/>
                <a:sym typeface="Merriweather"/>
              </a:rPr>
              <a:t>Initial Setup</a:t>
            </a:r>
            <a:r>
              <a:rPr lang="en" sz="1600">
                <a:latin typeface="Merriweather"/>
                <a:ea typeface="Merriweather"/>
                <a:cs typeface="Merriweather"/>
                <a:sym typeface="Merriweather"/>
              </a:rPr>
              <a:t> : Created a base layer and added Mesa city boundaries, along with projections of the current bus routes and stops across the city</a:t>
            </a:r>
            <a:br>
              <a:rPr lang="en" sz="1500">
                <a:latin typeface="Merriweather"/>
                <a:ea typeface="Merriweather"/>
                <a:cs typeface="Merriweather"/>
                <a:sym typeface="Merriweather"/>
              </a:rPr>
            </a:br>
            <a:endParaRPr sz="1500">
              <a:latin typeface="Merriweather"/>
              <a:ea typeface="Merriweather"/>
              <a:cs typeface="Merriweather"/>
              <a:sym typeface="Merriweather"/>
            </a:endParaRPr>
          </a:p>
          <a:p>
            <a:pPr indent="-323850" lvl="0" marL="457200" rtl="0" algn="l">
              <a:spcBef>
                <a:spcPts val="0"/>
              </a:spcBef>
              <a:spcAft>
                <a:spcPts val="0"/>
              </a:spcAft>
              <a:buSzPts val="1500"/>
              <a:buChar char="●"/>
            </a:pPr>
            <a:r>
              <a:rPr b="1" lang="en" sz="1600">
                <a:latin typeface="Merriweather"/>
                <a:ea typeface="Merriweather"/>
                <a:cs typeface="Merriweather"/>
                <a:sym typeface="Merriweather"/>
              </a:rPr>
              <a:t>Spatial Join &amp; Choropleth Mapping:</a:t>
            </a:r>
            <a:r>
              <a:rPr lang="en" sz="1600">
                <a:latin typeface="Merriweather"/>
                <a:ea typeface="Merriweather"/>
                <a:cs typeface="Merriweather"/>
                <a:sym typeface="Merriweather"/>
              </a:rPr>
              <a:t> Joined Mesa census tracts with ACS population data and styled by density tiers to reveal population spread on a map.</a:t>
            </a:r>
            <a:br>
              <a:rPr lang="en" sz="1600">
                <a:latin typeface="Merriweather"/>
                <a:ea typeface="Merriweather"/>
                <a:cs typeface="Merriweather"/>
                <a:sym typeface="Merriweather"/>
              </a:rPr>
            </a:br>
            <a:endParaRPr sz="1600">
              <a:latin typeface="Merriweather"/>
              <a:ea typeface="Merriweather"/>
              <a:cs typeface="Merriweather"/>
              <a:sym typeface="Merriweather"/>
            </a:endParaRPr>
          </a:p>
          <a:p>
            <a:pPr indent="-323850" lvl="0" marL="457200" rtl="0" algn="l">
              <a:spcBef>
                <a:spcPts val="0"/>
              </a:spcBef>
              <a:spcAft>
                <a:spcPts val="0"/>
              </a:spcAft>
              <a:buSzPts val="1500"/>
              <a:buChar char="●"/>
            </a:pPr>
            <a:r>
              <a:rPr b="1" lang="en" sz="1600">
                <a:latin typeface="Merriweather"/>
                <a:ea typeface="Merriweather"/>
                <a:cs typeface="Merriweather"/>
                <a:sym typeface="Merriweather"/>
              </a:rPr>
              <a:t>Coverage Gap Identification:</a:t>
            </a:r>
            <a:r>
              <a:rPr lang="en" sz="1600">
                <a:latin typeface="Merriweather"/>
                <a:ea typeface="Merriweather"/>
                <a:cs typeface="Merriweather"/>
                <a:sym typeface="Merriweather"/>
              </a:rPr>
              <a:t> Isolated tracts with no intersection of existing bus routes—highlighting underserved NE and SE Mesa.</a:t>
            </a:r>
            <a:br>
              <a:rPr lang="en" sz="1600">
                <a:latin typeface="Merriweather"/>
                <a:ea typeface="Merriweather"/>
                <a:cs typeface="Merriweather"/>
                <a:sym typeface="Merriweather"/>
              </a:rPr>
            </a:br>
            <a:endParaRPr sz="1600">
              <a:latin typeface="Merriweather"/>
              <a:ea typeface="Merriweather"/>
              <a:cs typeface="Merriweather"/>
              <a:sym typeface="Merriweather"/>
            </a:endParaRPr>
          </a:p>
          <a:p>
            <a:pPr indent="-323850" lvl="0" marL="457200" rtl="0" algn="l">
              <a:spcBef>
                <a:spcPts val="0"/>
              </a:spcBef>
              <a:spcAft>
                <a:spcPts val="0"/>
              </a:spcAft>
              <a:buSzPts val="1500"/>
              <a:buChar char="●"/>
            </a:pPr>
            <a:r>
              <a:rPr b="1" lang="en" sz="1600">
                <a:latin typeface="Merriweather"/>
                <a:ea typeface="Merriweather"/>
                <a:cs typeface="Merriweather"/>
                <a:sym typeface="Merriweather"/>
              </a:rPr>
              <a:t>Route &amp; Stop Digitization:</a:t>
            </a:r>
            <a:r>
              <a:rPr lang="en" sz="1600">
                <a:latin typeface="Merriweather"/>
                <a:ea typeface="Merriweather"/>
                <a:cs typeface="Merriweather"/>
                <a:sym typeface="Merriweather"/>
              </a:rPr>
              <a:t> Created five new bus corridors following major roads; extracted vertices along those lines to propose 45 potential stop locations.</a:t>
            </a:r>
            <a:br>
              <a:rPr lang="en" sz="1600">
                <a:latin typeface="Merriweather"/>
                <a:ea typeface="Merriweather"/>
                <a:cs typeface="Merriweather"/>
                <a:sym typeface="Merriweather"/>
              </a:rPr>
            </a:br>
            <a:endParaRPr sz="1600">
              <a:latin typeface="Merriweather"/>
              <a:ea typeface="Merriweather"/>
              <a:cs typeface="Merriweather"/>
              <a:sym typeface="Merriweather"/>
            </a:endParaRPr>
          </a:p>
          <a:p>
            <a:pPr indent="-323850" lvl="0" marL="457200" rtl="0" algn="l">
              <a:spcBef>
                <a:spcPts val="0"/>
              </a:spcBef>
              <a:spcAft>
                <a:spcPts val="0"/>
              </a:spcAft>
              <a:buSzPts val="1500"/>
              <a:buChar char="●"/>
            </a:pPr>
            <a:r>
              <a:rPr b="1" lang="en" sz="1600">
                <a:latin typeface="Merriweather"/>
                <a:ea typeface="Merriweather"/>
                <a:cs typeface="Merriweather"/>
                <a:sym typeface="Merriweather"/>
              </a:rPr>
              <a:t>Symbology &amp; Refinement:</a:t>
            </a:r>
            <a:r>
              <a:rPr lang="en" sz="1600">
                <a:latin typeface="Merriweather"/>
                <a:ea typeface="Merriweather"/>
                <a:cs typeface="Merriweather"/>
                <a:sym typeface="Merriweather"/>
              </a:rPr>
              <a:t> Applied categorized and rule-based symbology, adjusted layer transparency, and overlaid on OpenStreetMap for clear context.</a:t>
            </a:r>
            <a:br>
              <a:rPr lang="en" sz="1600">
                <a:latin typeface="Merriweather"/>
                <a:ea typeface="Merriweather"/>
                <a:cs typeface="Merriweather"/>
                <a:sym typeface="Merriweather"/>
              </a:rPr>
            </a:br>
            <a:endParaRPr sz="1600">
              <a:latin typeface="Merriweather"/>
              <a:ea typeface="Merriweather"/>
              <a:cs typeface="Merriweather"/>
              <a:sym typeface="Merriweather"/>
            </a:endParaRPr>
          </a:p>
          <a:p>
            <a:pPr indent="0" lvl="0" marL="0" rtl="0" algn="l">
              <a:spcBef>
                <a:spcPts val="1200"/>
              </a:spcBef>
              <a:spcAft>
                <a:spcPts val="1200"/>
              </a:spcAft>
              <a:buNone/>
            </a:pPr>
            <a:r>
              <a:t/>
            </a:r>
            <a:endParaRPr sz="1500">
              <a:latin typeface="Merriweather"/>
              <a:ea typeface="Merriweather"/>
              <a:cs typeface="Merriweather"/>
              <a:sym typeface="Merriweather"/>
            </a:endParaRPr>
          </a:p>
        </p:txBody>
      </p:sp>
      <p:sp>
        <p:nvSpPr>
          <p:cNvPr id="343" name="Google Shape;343;p46"/>
          <p:cNvSpPr txBox="1"/>
          <p:nvPr/>
        </p:nvSpPr>
        <p:spPr>
          <a:xfrm>
            <a:off x="1573500" y="196450"/>
            <a:ext cx="5997000" cy="5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50">
                <a:solidFill>
                  <a:schemeClr val="accent6"/>
                </a:solidFill>
                <a:latin typeface="Merriweather"/>
                <a:ea typeface="Merriweather"/>
                <a:cs typeface="Merriweather"/>
                <a:sym typeface="Merriweather"/>
              </a:rPr>
              <a:t>GIS Analysis</a:t>
            </a:r>
            <a:endParaRPr sz="1000">
              <a:solidFill>
                <a:schemeClr val="dk2"/>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47" title="mesa_population_and_bus_routes.jpg"/>
          <p:cNvPicPr preferRelativeResize="0"/>
          <p:nvPr/>
        </p:nvPicPr>
        <p:blipFill rotWithShape="1">
          <a:blip r:embed="rId3">
            <a:alphaModFix/>
          </a:blip>
          <a:srcRect b="1923" l="0" r="0" t="1923"/>
          <a:stretch/>
        </p:blipFill>
        <p:spPr>
          <a:xfrm>
            <a:off x="38825" y="890675"/>
            <a:ext cx="4778100" cy="2964600"/>
          </a:xfrm>
          <a:prstGeom prst="roundRect">
            <a:avLst>
              <a:gd fmla="val 16667" name="adj"/>
            </a:avLst>
          </a:prstGeom>
          <a:noFill/>
          <a:ln>
            <a:noFill/>
          </a:ln>
          <a:effectLst>
            <a:outerShdw blurRad="57150" rotWithShape="0" algn="bl" dir="5400000" dist="19050">
              <a:srgbClr val="000000">
                <a:alpha val="50000"/>
              </a:srgbClr>
            </a:outerShdw>
          </a:effectLst>
        </p:spPr>
      </p:pic>
      <p:sp>
        <p:nvSpPr>
          <p:cNvPr id="349" name="Google Shape;349;p47"/>
          <p:cNvSpPr txBox="1"/>
          <p:nvPr/>
        </p:nvSpPr>
        <p:spPr>
          <a:xfrm>
            <a:off x="716225" y="4089550"/>
            <a:ext cx="3518100" cy="499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Clr>
                <a:schemeClr val="hlink"/>
              </a:buClr>
              <a:buSzPts val="1100"/>
              <a:buFont typeface="Arial"/>
              <a:buNone/>
            </a:pPr>
            <a:r>
              <a:rPr lang="en" sz="950">
                <a:solidFill>
                  <a:schemeClr val="lt1"/>
                </a:solidFill>
                <a:latin typeface="Merriweather"/>
                <a:ea typeface="Merriweather"/>
                <a:cs typeface="Merriweather"/>
                <a:sym typeface="Merriweather"/>
              </a:rPr>
              <a:t>Mesa areas and their populations in accordance with census tracts and ACS population data</a:t>
            </a:r>
            <a:endParaRPr sz="1000">
              <a:solidFill>
                <a:schemeClr val="dk2"/>
              </a:solidFill>
              <a:latin typeface="DM Sans"/>
              <a:ea typeface="DM Sans"/>
              <a:cs typeface="DM Sans"/>
              <a:sym typeface="DM Sans"/>
            </a:endParaRPr>
          </a:p>
        </p:txBody>
      </p:sp>
      <p:sp>
        <p:nvSpPr>
          <p:cNvPr id="350" name="Google Shape;350;p47"/>
          <p:cNvSpPr txBox="1"/>
          <p:nvPr/>
        </p:nvSpPr>
        <p:spPr>
          <a:xfrm>
            <a:off x="5058150" y="4089550"/>
            <a:ext cx="3518100" cy="499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950">
                <a:solidFill>
                  <a:schemeClr val="lt1"/>
                </a:solidFill>
                <a:latin typeface="Merriweather"/>
                <a:ea typeface="Merriweather"/>
                <a:cs typeface="Merriweather"/>
                <a:sym typeface="Merriweather"/>
              </a:rPr>
              <a:t>Mesa areas and their populations without any bus routes or public transit</a:t>
            </a:r>
            <a:endParaRPr sz="1000">
              <a:solidFill>
                <a:schemeClr val="dk2"/>
              </a:solidFill>
              <a:latin typeface="DM Sans"/>
              <a:ea typeface="DM Sans"/>
              <a:cs typeface="DM Sans"/>
              <a:sym typeface="DM Sans"/>
            </a:endParaRPr>
          </a:p>
        </p:txBody>
      </p:sp>
      <p:sp>
        <p:nvSpPr>
          <p:cNvPr id="351" name="Google Shape;351;p47"/>
          <p:cNvSpPr txBox="1"/>
          <p:nvPr/>
        </p:nvSpPr>
        <p:spPr>
          <a:xfrm>
            <a:off x="1573500" y="196450"/>
            <a:ext cx="5997000" cy="5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50">
                <a:solidFill>
                  <a:schemeClr val="accent6"/>
                </a:solidFill>
                <a:latin typeface="Merriweather"/>
                <a:ea typeface="Merriweather"/>
                <a:cs typeface="Merriweather"/>
                <a:sym typeface="Merriweather"/>
              </a:rPr>
              <a:t>Mesa - Present day transit and population layout</a:t>
            </a:r>
            <a:endParaRPr sz="1000">
              <a:solidFill>
                <a:schemeClr val="dk2"/>
              </a:solidFill>
              <a:latin typeface="DM Sans"/>
              <a:ea typeface="DM Sans"/>
              <a:cs typeface="DM Sans"/>
              <a:sym typeface="DM Sans"/>
            </a:endParaRPr>
          </a:p>
        </p:txBody>
      </p:sp>
      <p:pic>
        <p:nvPicPr>
          <p:cNvPr id="352" name="Google Shape;352;p47" title="mesa_no_bus_areas.jpg"/>
          <p:cNvPicPr preferRelativeResize="0"/>
          <p:nvPr/>
        </p:nvPicPr>
        <p:blipFill rotWithShape="1">
          <a:blip r:embed="rId4">
            <a:alphaModFix/>
          </a:blip>
          <a:srcRect b="2972" l="0" r="0" t="2972"/>
          <a:stretch/>
        </p:blipFill>
        <p:spPr>
          <a:xfrm>
            <a:off x="4329125" y="890675"/>
            <a:ext cx="4778100" cy="29646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48" title="proposed_bus_routes_and_stops.jpg"/>
          <p:cNvPicPr preferRelativeResize="0"/>
          <p:nvPr/>
        </p:nvPicPr>
        <p:blipFill rotWithShape="1">
          <a:blip r:embed="rId3">
            <a:alphaModFix/>
          </a:blip>
          <a:srcRect b="2033" l="0" r="0" t="2024"/>
          <a:stretch/>
        </p:blipFill>
        <p:spPr>
          <a:xfrm>
            <a:off x="1499250" y="759150"/>
            <a:ext cx="6145500" cy="3625200"/>
          </a:xfrm>
          <a:prstGeom prst="roundRect">
            <a:avLst>
              <a:gd fmla="val 16667" name="adj"/>
            </a:avLst>
          </a:prstGeom>
          <a:noFill/>
          <a:ln>
            <a:noFill/>
          </a:ln>
          <a:effectLst>
            <a:outerShdw blurRad="57150" rotWithShape="0" algn="bl" dir="5400000" dist="19050">
              <a:srgbClr val="000000">
                <a:alpha val="50000"/>
              </a:srgbClr>
            </a:outerShdw>
          </a:effectLst>
        </p:spPr>
      </p:pic>
      <p:sp>
        <p:nvSpPr>
          <p:cNvPr id="358" name="Google Shape;358;p48"/>
          <p:cNvSpPr txBox="1"/>
          <p:nvPr/>
        </p:nvSpPr>
        <p:spPr>
          <a:xfrm>
            <a:off x="1573500" y="196450"/>
            <a:ext cx="5997000" cy="5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50">
                <a:solidFill>
                  <a:schemeClr val="accent6"/>
                </a:solidFill>
                <a:latin typeface="Merriweather"/>
                <a:ea typeface="Merriweather"/>
                <a:cs typeface="Merriweather"/>
                <a:sym typeface="Merriweather"/>
              </a:rPr>
              <a:t>Proposed Bus Routes and Stops</a:t>
            </a:r>
            <a:endParaRPr sz="1000">
              <a:solidFill>
                <a:schemeClr val="dk2"/>
              </a:solidFill>
              <a:latin typeface="DM Sans"/>
              <a:ea typeface="DM Sans"/>
              <a:cs typeface="DM Sans"/>
              <a:sym typeface="DM Sans"/>
            </a:endParaRPr>
          </a:p>
        </p:txBody>
      </p:sp>
      <p:sp>
        <p:nvSpPr>
          <p:cNvPr id="359" name="Google Shape;359;p48"/>
          <p:cNvSpPr txBox="1"/>
          <p:nvPr/>
        </p:nvSpPr>
        <p:spPr>
          <a:xfrm>
            <a:off x="2812950" y="4549700"/>
            <a:ext cx="3518100" cy="499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950">
                <a:solidFill>
                  <a:schemeClr val="lt1"/>
                </a:solidFill>
                <a:latin typeface="Merriweather"/>
                <a:ea typeface="Merriweather"/>
                <a:cs typeface="Merriweather"/>
                <a:sym typeface="Merriweather"/>
              </a:rPr>
              <a:t>5 new bus routes and 45 bus stops </a:t>
            </a:r>
            <a:r>
              <a:rPr lang="en" sz="950">
                <a:solidFill>
                  <a:schemeClr val="lt1"/>
                </a:solidFill>
                <a:latin typeface="Merriweather"/>
                <a:ea typeface="Merriweather"/>
                <a:cs typeface="Merriweather"/>
                <a:sym typeface="Merriweather"/>
              </a:rPr>
              <a:t>across</a:t>
            </a:r>
            <a:r>
              <a:rPr lang="en" sz="950">
                <a:solidFill>
                  <a:schemeClr val="lt1"/>
                </a:solidFill>
                <a:latin typeface="Merriweather"/>
                <a:ea typeface="Merriweather"/>
                <a:cs typeface="Merriweather"/>
                <a:sym typeface="Merriweather"/>
              </a:rPr>
              <a:t> the north-east and south-east parts of mesa </a:t>
            </a:r>
            <a:endParaRPr sz="1000">
              <a:solidFill>
                <a:schemeClr val="dk2"/>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5" name="Google Shape;365;p49"/>
          <p:cNvSpPr txBox="1"/>
          <p:nvPr>
            <p:ph idx="2" type="body"/>
          </p:nvPr>
        </p:nvSpPr>
        <p:spPr>
          <a:xfrm>
            <a:off x="229675" y="646250"/>
            <a:ext cx="8565900" cy="4300800"/>
          </a:xfrm>
          <a:prstGeom prst="rect">
            <a:avLst/>
          </a:prstGeom>
        </p:spPr>
        <p:txBody>
          <a:bodyPr anchorCtr="0" anchor="ctr" bIns="91425" lIns="91425" spcFirstLastPara="1" rIns="91425" wrap="square" tIns="91425">
            <a:noAutofit/>
          </a:bodyPr>
          <a:lstStyle/>
          <a:p>
            <a:pPr indent="-323850" lvl="0" marL="457200" rtl="0" algn="l">
              <a:spcBef>
                <a:spcPts val="0"/>
              </a:spcBef>
              <a:spcAft>
                <a:spcPts val="0"/>
              </a:spcAft>
              <a:buSzPts val="1500"/>
              <a:buChar char="●"/>
            </a:pPr>
            <a:r>
              <a:rPr b="1" lang="en" sz="1600">
                <a:latin typeface="Merriweather"/>
                <a:ea typeface="Merriweather"/>
                <a:cs typeface="Merriweather"/>
                <a:sym typeface="Merriweather"/>
              </a:rPr>
              <a:t>Buffering and Accessibility Analysis </a:t>
            </a:r>
            <a:br>
              <a:rPr b="1" lang="en" sz="1600">
                <a:latin typeface="Merriweather"/>
                <a:ea typeface="Merriweather"/>
                <a:cs typeface="Merriweather"/>
                <a:sym typeface="Merriweather"/>
              </a:rPr>
            </a:br>
            <a:r>
              <a:rPr b="1" lang="en" sz="1600">
                <a:latin typeface="Merriweather"/>
                <a:ea typeface="Merriweather"/>
                <a:cs typeface="Merriweather"/>
                <a:sym typeface="Merriweather"/>
              </a:rPr>
              <a:t>-</a:t>
            </a:r>
            <a:r>
              <a:rPr lang="en" sz="1600">
                <a:latin typeface="Merriweather"/>
                <a:ea typeface="Merriweather"/>
                <a:cs typeface="Merriweather"/>
                <a:sym typeface="Merriweather"/>
              </a:rPr>
              <a:t>A 500-meter buffer was applied to the new bus routes to simulate walking accessibility </a:t>
            </a:r>
            <a:br>
              <a:rPr lang="en" sz="1600">
                <a:latin typeface="Merriweather"/>
                <a:ea typeface="Merriweather"/>
                <a:cs typeface="Merriweather"/>
                <a:sym typeface="Merriweather"/>
              </a:rPr>
            </a:br>
            <a:r>
              <a:rPr lang="en" sz="1600">
                <a:latin typeface="Merriweather"/>
                <a:ea typeface="Merriweather"/>
                <a:cs typeface="Merriweather"/>
                <a:sym typeface="Merriweather"/>
              </a:rPr>
              <a:t>- This was intersected with the census tracts to calculate overlapping areas</a:t>
            </a:r>
            <a:br>
              <a:rPr lang="en" sz="1600">
                <a:latin typeface="Merriweather"/>
                <a:ea typeface="Merriweather"/>
                <a:cs typeface="Merriweather"/>
                <a:sym typeface="Merriweather"/>
              </a:rPr>
            </a:br>
            <a:endParaRPr sz="1600">
              <a:latin typeface="Merriweather"/>
              <a:ea typeface="Merriweather"/>
              <a:cs typeface="Merriweather"/>
              <a:sym typeface="Merriweather"/>
            </a:endParaRPr>
          </a:p>
          <a:p>
            <a:pPr indent="-323850" lvl="0" marL="457200" rtl="0" algn="l">
              <a:spcBef>
                <a:spcPts val="0"/>
              </a:spcBef>
              <a:spcAft>
                <a:spcPts val="0"/>
              </a:spcAft>
              <a:buSzPts val="1500"/>
              <a:buChar char="●"/>
            </a:pPr>
            <a:r>
              <a:rPr b="1" lang="en" sz="1600">
                <a:latin typeface="Merriweather"/>
                <a:ea typeface="Merriweather"/>
                <a:cs typeface="Merriweather"/>
                <a:sym typeface="Merriweather"/>
              </a:rPr>
              <a:t>Overlap Ratio and Population Impact</a:t>
            </a:r>
            <a:br>
              <a:rPr lang="en" sz="1600">
                <a:latin typeface="Merriweather"/>
                <a:ea typeface="Merriweather"/>
                <a:cs typeface="Merriweather"/>
                <a:sym typeface="Merriweather"/>
              </a:rPr>
            </a:br>
            <a:r>
              <a:rPr lang="en" sz="1600">
                <a:latin typeface="Merriweather"/>
                <a:ea typeface="Merriweather"/>
                <a:cs typeface="Merriweather"/>
                <a:sym typeface="Merriweather"/>
              </a:rPr>
              <a:t>-The area of overlap and the total tract area were calculated using the “Field Calculator” and a new attribute (overlap_ratio) was added to express the proportion of each tract covered by the buffer</a:t>
            </a:r>
            <a:br>
              <a:rPr lang="en" sz="1600">
                <a:latin typeface="Merriweather"/>
                <a:ea typeface="Merriweather"/>
                <a:cs typeface="Merriweather"/>
                <a:sym typeface="Merriweather"/>
              </a:rPr>
            </a:br>
            <a:r>
              <a:rPr lang="en" sz="1600">
                <a:latin typeface="Merriweather"/>
                <a:ea typeface="Merriweather"/>
                <a:cs typeface="Merriweather"/>
                <a:sym typeface="Merriweather"/>
              </a:rPr>
              <a:t>-Tracts with at least 20% overlap were retained, representing zones likely to experience meaningful accessibility improvement </a:t>
            </a:r>
            <a:br>
              <a:rPr lang="en" sz="1600">
                <a:latin typeface="Merriweather"/>
                <a:ea typeface="Merriweather"/>
                <a:cs typeface="Merriweather"/>
                <a:sym typeface="Merriweather"/>
              </a:rPr>
            </a:br>
            <a:r>
              <a:rPr lang="en" sz="1600">
                <a:latin typeface="Merriweather"/>
                <a:ea typeface="Merriweather"/>
                <a:cs typeface="Merriweather"/>
                <a:sym typeface="Merriweather"/>
              </a:rPr>
              <a:t>-A weighted population field (pop_contributed) was calculated by multiplying each tract’s population by its overlap ratio</a:t>
            </a:r>
            <a:endParaRPr sz="1600">
              <a:latin typeface="Merriweather"/>
              <a:ea typeface="Merriweather"/>
              <a:cs typeface="Merriweather"/>
              <a:sym typeface="Merriweather"/>
            </a:endParaRPr>
          </a:p>
        </p:txBody>
      </p:sp>
      <p:sp>
        <p:nvSpPr>
          <p:cNvPr id="366" name="Google Shape;366;p49"/>
          <p:cNvSpPr txBox="1"/>
          <p:nvPr/>
        </p:nvSpPr>
        <p:spPr>
          <a:xfrm>
            <a:off x="1573500" y="196450"/>
            <a:ext cx="5997000" cy="5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50">
                <a:solidFill>
                  <a:schemeClr val="accent6"/>
                </a:solidFill>
                <a:latin typeface="Merriweather"/>
                <a:ea typeface="Merriweather"/>
                <a:cs typeface="Merriweather"/>
                <a:sym typeface="Merriweather"/>
              </a:rPr>
              <a:t>Post Bus Route creation analysis</a:t>
            </a:r>
            <a:endParaRPr sz="1000">
              <a:solidFill>
                <a:schemeClr val="dk2"/>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0"/>
          <p:cNvSpPr txBox="1"/>
          <p:nvPr/>
        </p:nvSpPr>
        <p:spPr>
          <a:xfrm>
            <a:off x="159569" y="4163770"/>
            <a:ext cx="3518100" cy="330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950">
                <a:solidFill>
                  <a:schemeClr val="lt1"/>
                </a:solidFill>
                <a:latin typeface="Merriweather"/>
                <a:ea typeface="Merriweather"/>
                <a:cs typeface="Merriweather"/>
                <a:sym typeface="Merriweather"/>
              </a:rPr>
              <a:t>Bus Routes with a 500m buffer for </a:t>
            </a:r>
            <a:r>
              <a:rPr lang="en" sz="950">
                <a:solidFill>
                  <a:schemeClr val="lt1"/>
                </a:solidFill>
                <a:latin typeface="Merriweather"/>
                <a:ea typeface="Merriweather"/>
                <a:cs typeface="Merriweather"/>
                <a:sym typeface="Merriweather"/>
              </a:rPr>
              <a:t>accessibility</a:t>
            </a:r>
            <a:endParaRPr sz="1000">
              <a:solidFill>
                <a:schemeClr val="dk2"/>
              </a:solidFill>
              <a:latin typeface="DM Sans"/>
              <a:ea typeface="DM Sans"/>
              <a:cs typeface="DM Sans"/>
              <a:sym typeface="DM Sans"/>
            </a:endParaRPr>
          </a:p>
        </p:txBody>
      </p:sp>
      <p:sp>
        <p:nvSpPr>
          <p:cNvPr id="372" name="Google Shape;372;p50"/>
          <p:cNvSpPr txBox="1"/>
          <p:nvPr/>
        </p:nvSpPr>
        <p:spPr>
          <a:xfrm>
            <a:off x="5466364" y="4163770"/>
            <a:ext cx="3518100" cy="330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950">
                <a:solidFill>
                  <a:schemeClr val="lt1"/>
                </a:solidFill>
                <a:latin typeface="Merriweather"/>
                <a:ea typeface="Merriweather"/>
                <a:cs typeface="Merriweather"/>
                <a:sym typeface="Merriweather"/>
              </a:rPr>
              <a:t>Overlapping areas of the bus route with a 20% threshold</a:t>
            </a:r>
            <a:endParaRPr sz="1000">
              <a:solidFill>
                <a:schemeClr val="dk2"/>
              </a:solidFill>
              <a:latin typeface="DM Sans"/>
              <a:ea typeface="DM Sans"/>
              <a:cs typeface="DM Sans"/>
              <a:sym typeface="DM Sans"/>
            </a:endParaRPr>
          </a:p>
        </p:txBody>
      </p:sp>
      <p:sp>
        <p:nvSpPr>
          <p:cNvPr id="373" name="Google Shape;373;p50"/>
          <p:cNvSpPr txBox="1"/>
          <p:nvPr/>
        </p:nvSpPr>
        <p:spPr>
          <a:xfrm>
            <a:off x="1573500" y="196450"/>
            <a:ext cx="5997000" cy="5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sz="1850">
                <a:solidFill>
                  <a:schemeClr val="accent6"/>
                </a:solidFill>
                <a:latin typeface="Merriweather"/>
                <a:ea typeface="Merriweather"/>
                <a:cs typeface="Merriweather"/>
                <a:sym typeface="Merriweather"/>
              </a:rPr>
              <a:t>Post Bus Route creation analysis</a:t>
            </a:r>
            <a:endParaRPr sz="1000">
              <a:solidFill>
                <a:schemeClr val="dk2"/>
              </a:solidFill>
              <a:latin typeface="DM Sans"/>
              <a:ea typeface="DM Sans"/>
              <a:cs typeface="DM Sans"/>
              <a:sym typeface="DM Sans"/>
            </a:endParaRPr>
          </a:p>
        </p:txBody>
      </p:sp>
      <p:pic>
        <p:nvPicPr>
          <p:cNvPr id="374" name="Google Shape;374;p50"/>
          <p:cNvPicPr preferRelativeResize="0"/>
          <p:nvPr/>
        </p:nvPicPr>
        <p:blipFill>
          <a:blip r:embed="rId3">
            <a:alphaModFix/>
          </a:blip>
          <a:stretch>
            <a:fillRect/>
          </a:stretch>
        </p:blipFill>
        <p:spPr>
          <a:xfrm>
            <a:off x="724964" y="942671"/>
            <a:ext cx="2387400" cy="3068700"/>
          </a:xfrm>
          <a:prstGeom prst="roundRect">
            <a:avLst>
              <a:gd fmla="val 16667" name="adj"/>
            </a:avLst>
          </a:prstGeom>
          <a:noFill/>
          <a:ln>
            <a:noFill/>
          </a:ln>
          <a:effectLst>
            <a:outerShdw blurRad="57150" rotWithShape="0" algn="bl" dir="5400000" dist="19050">
              <a:srgbClr val="000000">
                <a:alpha val="50000"/>
              </a:srgbClr>
            </a:outerShdw>
          </a:effectLst>
        </p:spPr>
      </p:pic>
      <p:pic>
        <p:nvPicPr>
          <p:cNvPr id="375" name="Google Shape;375;p50" title="mesa_tracts_w_20%_intersection_w_new_bus_routes.jpg"/>
          <p:cNvPicPr preferRelativeResize="0"/>
          <p:nvPr/>
        </p:nvPicPr>
        <p:blipFill rotWithShape="1">
          <a:blip r:embed="rId4">
            <a:alphaModFix/>
          </a:blip>
          <a:srcRect b="0" l="6009" r="6009" t="0"/>
          <a:stretch/>
        </p:blipFill>
        <p:spPr>
          <a:xfrm>
            <a:off x="6031709" y="942671"/>
            <a:ext cx="2387400" cy="3068700"/>
          </a:xfrm>
          <a:prstGeom prst="roundRect">
            <a:avLst>
              <a:gd fmla="val 16667" name="adj"/>
            </a:avLst>
          </a:prstGeom>
          <a:noFill/>
          <a:ln>
            <a:noFill/>
          </a:ln>
          <a:effectLst>
            <a:outerShdw blurRad="57150" rotWithShape="0" algn="bl" dir="5400000" dist="19050">
              <a:srgbClr val="000000">
                <a:alpha val="50000"/>
              </a:srgbClr>
            </a:outerShdw>
          </a:effectLst>
        </p:spPr>
      </p:pic>
      <p:sp>
        <p:nvSpPr>
          <p:cNvPr id="376" name="Google Shape;376;p50"/>
          <p:cNvSpPr txBox="1"/>
          <p:nvPr/>
        </p:nvSpPr>
        <p:spPr>
          <a:xfrm>
            <a:off x="3112375" y="1454725"/>
            <a:ext cx="2919300" cy="210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50">
                <a:solidFill>
                  <a:schemeClr val="lt1"/>
                </a:solidFill>
                <a:latin typeface="Merriweather"/>
                <a:ea typeface="Merriweather"/>
                <a:cs typeface="Merriweather"/>
                <a:sym typeface="Merriweather"/>
              </a:rPr>
              <a:t>The total estimated population of </a:t>
            </a:r>
            <a:r>
              <a:rPr lang="en" sz="1650">
                <a:solidFill>
                  <a:schemeClr val="lt1"/>
                </a:solidFill>
                <a:latin typeface="Merriweather"/>
                <a:ea typeface="Merriweather"/>
                <a:cs typeface="Merriweather"/>
                <a:sym typeface="Merriweather"/>
              </a:rPr>
              <a:t>~63,413 people</a:t>
            </a:r>
            <a:r>
              <a:rPr lang="en" sz="1650">
                <a:solidFill>
                  <a:schemeClr val="lt1"/>
                </a:solidFill>
                <a:latin typeface="Merriweather"/>
                <a:ea typeface="Merriweather"/>
                <a:cs typeface="Merriweather"/>
                <a:sym typeface="Merriweather"/>
              </a:rPr>
              <a:t> newly served and directly affected by proposed routes</a:t>
            </a:r>
            <a:endParaRPr sz="1650">
              <a:solidFill>
                <a:schemeClr val="lt1"/>
              </a:solidFill>
              <a:latin typeface="Merriweather"/>
              <a:ea typeface="Merriweather"/>
              <a:cs typeface="Merriweather"/>
              <a:sym typeface="Merriweath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51"/>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Introduction</a:t>
            </a:r>
            <a:endParaRPr b="1" sz="3650">
              <a:solidFill>
                <a:schemeClr val="accent2"/>
              </a:solidFill>
              <a:latin typeface="Merriweather"/>
              <a:ea typeface="Merriweather"/>
              <a:cs typeface="Merriweather"/>
              <a:sym typeface="Merriweather"/>
            </a:endParaRPr>
          </a:p>
        </p:txBody>
      </p:sp>
      <p:sp>
        <p:nvSpPr>
          <p:cNvPr id="383" name="Google Shape;383;p51"/>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Objectives</a:t>
            </a:r>
            <a:endParaRPr b="1" sz="3650">
              <a:solidFill>
                <a:schemeClr val="accent2"/>
              </a:solidFill>
              <a:latin typeface="Merriweather"/>
              <a:ea typeface="Merriweather"/>
              <a:cs typeface="Merriweather"/>
              <a:sym typeface="Merriweather"/>
            </a:endParaRPr>
          </a:p>
        </p:txBody>
      </p:sp>
      <p:sp>
        <p:nvSpPr>
          <p:cNvPr id="384" name="Google Shape;384;p51"/>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Methodology</a:t>
            </a:r>
            <a:endParaRPr b="1" sz="3650">
              <a:solidFill>
                <a:schemeClr val="accent2"/>
              </a:solidFill>
              <a:latin typeface="Merriweather"/>
              <a:ea typeface="Merriweather"/>
              <a:cs typeface="Merriweather"/>
              <a:sym typeface="Merriweather"/>
            </a:endParaRPr>
          </a:p>
        </p:txBody>
      </p:sp>
      <p:sp>
        <p:nvSpPr>
          <p:cNvPr id="385" name="Google Shape;385;p51"/>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Results and Significance</a:t>
            </a:r>
            <a:endParaRPr b="1" sz="3650">
              <a:solidFill>
                <a:schemeClr val="dk1"/>
              </a:solidFill>
              <a:latin typeface="Merriweather"/>
              <a:ea typeface="Merriweather"/>
              <a:cs typeface="Merriweather"/>
              <a:sym typeface="Merriweather"/>
            </a:endParaRPr>
          </a:p>
        </p:txBody>
      </p:sp>
      <p:sp>
        <p:nvSpPr>
          <p:cNvPr id="386" name="Google Shape;386;p51"/>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387" name="Google Shape;387;p51"/>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388" name="Google Shape;388;p51"/>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389" name="Google Shape;389;p51"/>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4.</a:t>
            </a:r>
            <a:endParaRPr b="1" sz="1450">
              <a:solidFill>
                <a:schemeClr val="dk1"/>
              </a:solidFill>
              <a:latin typeface="Merriweather"/>
              <a:ea typeface="Merriweather"/>
              <a:cs typeface="Merriweather"/>
              <a:sym typeface="Merriweather"/>
            </a:endParaRPr>
          </a:p>
        </p:txBody>
      </p:sp>
      <p:sp>
        <p:nvSpPr>
          <p:cNvPr id="390" name="Google Shape;390;p51"/>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6" name="Google Shape;396;p52"/>
          <p:cNvSpPr txBox="1"/>
          <p:nvPr>
            <p:ph idx="2" type="body"/>
          </p:nvPr>
        </p:nvSpPr>
        <p:spPr>
          <a:xfrm>
            <a:off x="229675" y="646250"/>
            <a:ext cx="8565900" cy="4300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Merriweather"/>
              <a:buChar char="●"/>
            </a:pPr>
            <a:r>
              <a:rPr b="1" lang="en" sz="1600">
                <a:latin typeface="Merriweather"/>
                <a:ea typeface="Merriweather"/>
                <a:cs typeface="Merriweather"/>
                <a:sym typeface="Merriweather"/>
              </a:rPr>
              <a:t>Once we created the bus routes and stops, the next step was to analyse what kind of impact that could have as far as Carbon Emissions go.</a:t>
            </a:r>
            <a:br>
              <a:rPr b="1" lang="en" sz="1600">
                <a:latin typeface="Merriweather"/>
                <a:ea typeface="Merriweather"/>
                <a:cs typeface="Merriweather"/>
                <a:sym typeface="Merriweather"/>
              </a:rPr>
            </a:br>
            <a:endParaRPr b="1" sz="1600">
              <a:latin typeface="Merriweather"/>
              <a:ea typeface="Merriweather"/>
              <a:cs typeface="Merriweather"/>
              <a:sym typeface="Merriweather"/>
            </a:endParaRPr>
          </a:p>
          <a:p>
            <a:pPr indent="-330200" lvl="0" marL="457200" rtl="0" algn="l">
              <a:spcBef>
                <a:spcPts val="0"/>
              </a:spcBef>
              <a:spcAft>
                <a:spcPts val="0"/>
              </a:spcAft>
              <a:buSzPts val="1600"/>
              <a:buFont typeface="Merriweather"/>
              <a:buChar char="●"/>
            </a:pPr>
            <a:r>
              <a:rPr b="1" lang="en" sz="1600">
                <a:latin typeface="Merriweather"/>
                <a:ea typeface="Merriweather"/>
                <a:cs typeface="Merriweather"/>
                <a:sym typeface="Merriweather"/>
              </a:rPr>
              <a:t>For this analysis, we considered various scenarios and national averages</a:t>
            </a:r>
            <a:br>
              <a:rPr b="1" lang="en" sz="1600">
                <a:latin typeface="Merriweather"/>
                <a:ea typeface="Merriweather"/>
                <a:cs typeface="Merriweather"/>
                <a:sym typeface="Merriweather"/>
              </a:rPr>
            </a:br>
            <a:br>
              <a:rPr b="1" lang="en" sz="1600">
                <a:latin typeface="Merriweather"/>
                <a:ea typeface="Merriweather"/>
                <a:cs typeface="Merriweather"/>
                <a:sym typeface="Merriweather"/>
              </a:rPr>
            </a:br>
            <a:r>
              <a:rPr b="1" lang="en" sz="1600">
                <a:latin typeface="Merriweather"/>
                <a:ea typeface="Merriweather"/>
                <a:cs typeface="Merriweather"/>
                <a:sym typeface="Merriweather"/>
              </a:rPr>
              <a:t>-An uptake of 5%, 10% and 15%</a:t>
            </a:r>
            <a:br>
              <a:rPr b="1" lang="en" sz="1600">
                <a:latin typeface="Merriweather"/>
                <a:ea typeface="Merriweather"/>
                <a:cs typeface="Merriweather"/>
                <a:sym typeface="Merriweather"/>
              </a:rPr>
            </a:br>
            <a:r>
              <a:rPr b="1" lang="en" sz="1600">
                <a:latin typeface="Merriweather"/>
                <a:ea typeface="Merriweather"/>
                <a:cs typeface="Merriweather"/>
                <a:sym typeface="Merriweather"/>
              </a:rPr>
              <a:t>-Average trip lengths of 5 miles and 12 miles (national average is 12.2 miles)</a:t>
            </a:r>
            <a:br>
              <a:rPr b="1" lang="en" sz="1600">
                <a:latin typeface="Merriweather"/>
                <a:ea typeface="Merriweather"/>
                <a:cs typeface="Merriweather"/>
                <a:sym typeface="Merriweather"/>
              </a:rPr>
            </a:br>
            <a:r>
              <a:rPr b="1" lang="en" sz="1600">
                <a:latin typeface="Merriweather"/>
                <a:ea typeface="Merriweather"/>
                <a:cs typeface="Merriweather"/>
                <a:sym typeface="Merriweather"/>
              </a:rPr>
              <a:t>-250 work days across the USA</a:t>
            </a:r>
            <a:br>
              <a:rPr b="1" lang="en" sz="1600">
                <a:latin typeface="Merriweather"/>
                <a:ea typeface="Merriweather"/>
                <a:cs typeface="Merriweather"/>
                <a:sym typeface="Merriweather"/>
              </a:rPr>
            </a:br>
            <a:r>
              <a:rPr b="1" lang="en" sz="1600">
                <a:latin typeface="Merriweather"/>
                <a:ea typeface="Merriweather"/>
                <a:cs typeface="Merriweather"/>
                <a:sym typeface="Merriweather"/>
              </a:rPr>
              <a:t>-Bus capacities of 10 and 20 - to emulate a full bus and a relatively empty bus journeys</a:t>
            </a:r>
            <a:br>
              <a:rPr b="1" lang="en" sz="1600">
                <a:latin typeface="Merriweather"/>
                <a:ea typeface="Merriweather"/>
                <a:cs typeface="Merriweather"/>
                <a:sym typeface="Merriweather"/>
              </a:rPr>
            </a:br>
            <a:r>
              <a:rPr b="1" lang="en" sz="1600">
                <a:latin typeface="Merriweather"/>
                <a:ea typeface="Merriweather"/>
                <a:cs typeface="Merriweather"/>
                <a:sym typeface="Merriweather"/>
              </a:rPr>
              <a:t>-Average Carbon Emissions for a diesel bus per mile of 2680 g</a:t>
            </a:r>
            <a:br>
              <a:rPr b="1" lang="en" sz="1600">
                <a:latin typeface="Merriweather"/>
                <a:ea typeface="Merriweather"/>
                <a:cs typeface="Merriweather"/>
                <a:sym typeface="Merriweather"/>
              </a:rPr>
            </a:br>
            <a:r>
              <a:rPr b="1" lang="en" sz="1600">
                <a:latin typeface="Merriweather"/>
                <a:ea typeface="Merriweather"/>
                <a:cs typeface="Merriweather"/>
                <a:sym typeface="Merriweather"/>
              </a:rPr>
              <a:t>-Average Carbon Emissions for an electric bus per mile of 100 g</a:t>
            </a:r>
            <a:br>
              <a:rPr b="1" lang="en" sz="1600">
                <a:latin typeface="Merriweather"/>
                <a:ea typeface="Merriweather"/>
                <a:cs typeface="Merriweather"/>
                <a:sym typeface="Merriweather"/>
              </a:rPr>
            </a:br>
            <a:r>
              <a:rPr b="1" lang="en" sz="1600">
                <a:latin typeface="Merriweather"/>
                <a:ea typeface="Merriweather"/>
                <a:cs typeface="Merriweather"/>
                <a:sym typeface="Merriweather"/>
              </a:rPr>
              <a:t>-Average Carbon Emissions for a car per mile of 404 g</a:t>
            </a:r>
            <a:endParaRPr b="1" sz="1600">
              <a:latin typeface="Merriweather"/>
              <a:ea typeface="Merriweather"/>
              <a:cs typeface="Merriweather"/>
              <a:sym typeface="Merriweather"/>
            </a:endParaRPr>
          </a:p>
          <a:p>
            <a:pPr indent="0" lvl="0" marL="0" rtl="0" algn="l">
              <a:spcBef>
                <a:spcPts val="1200"/>
              </a:spcBef>
              <a:spcAft>
                <a:spcPts val="0"/>
              </a:spcAft>
              <a:buNone/>
            </a:pPr>
            <a:r>
              <a:t/>
            </a:r>
            <a:endParaRPr b="1" sz="1600">
              <a:latin typeface="Merriweather"/>
              <a:ea typeface="Merriweather"/>
              <a:cs typeface="Merriweather"/>
              <a:sym typeface="Merriweather"/>
            </a:endParaRPr>
          </a:p>
          <a:p>
            <a:pPr indent="0" lvl="0" marL="0" rtl="0" algn="l">
              <a:spcBef>
                <a:spcPts val="1200"/>
              </a:spcBef>
              <a:spcAft>
                <a:spcPts val="1200"/>
              </a:spcAft>
              <a:buNone/>
            </a:pPr>
            <a:r>
              <a:t/>
            </a:r>
            <a:endParaRPr b="1" sz="1600">
              <a:latin typeface="Merriweather"/>
              <a:ea typeface="Merriweather"/>
              <a:cs typeface="Merriweather"/>
              <a:sym typeface="Merriweather"/>
            </a:endParaRPr>
          </a:p>
        </p:txBody>
      </p:sp>
      <p:sp>
        <p:nvSpPr>
          <p:cNvPr id="397" name="Google Shape;397;p52"/>
          <p:cNvSpPr txBox="1"/>
          <p:nvPr/>
        </p:nvSpPr>
        <p:spPr>
          <a:xfrm>
            <a:off x="1573500" y="196450"/>
            <a:ext cx="5997000" cy="5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50">
                <a:solidFill>
                  <a:schemeClr val="accent6"/>
                </a:solidFill>
                <a:latin typeface="Merriweather"/>
                <a:ea typeface="Merriweather"/>
                <a:cs typeface="Merriweather"/>
                <a:sym typeface="Merriweather"/>
              </a:rPr>
              <a:t>Projected Reduction in Carbon Emissions </a:t>
            </a:r>
            <a:endParaRPr sz="1000">
              <a:solidFill>
                <a:schemeClr val="dk2"/>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53"/>
          <p:cNvSpPr txBox="1"/>
          <p:nvPr/>
        </p:nvSpPr>
        <p:spPr>
          <a:xfrm>
            <a:off x="1573500" y="196450"/>
            <a:ext cx="5997000" cy="5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50">
                <a:solidFill>
                  <a:schemeClr val="accent6"/>
                </a:solidFill>
                <a:latin typeface="Merriweather"/>
                <a:ea typeface="Merriweather"/>
                <a:cs typeface="Merriweather"/>
                <a:sym typeface="Merriweather"/>
              </a:rPr>
              <a:t>Projected Reduction in Carbon Emissions </a:t>
            </a:r>
            <a:endParaRPr sz="1000">
              <a:solidFill>
                <a:schemeClr val="dk2"/>
              </a:solidFill>
              <a:latin typeface="DM Sans"/>
              <a:ea typeface="DM Sans"/>
              <a:cs typeface="DM Sans"/>
              <a:sym typeface="DM Sans"/>
            </a:endParaRPr>
          </a:p>
        </p:txBody>
      </p:sp>
      <p:pic>
        <p:nvPicPr>
          <p:cNvPr id="404" name="Google Shape;404;p53"/>
          <p:cNvPicPr preferRelativeResize="0"/>
          <p:nvPr/>
        </p:nvPicPr>
        <p:blipFill>
          <a:blip r:embed="rId3">
            <a:alphaModFix/>
          </a:blip>
          <a:stretch>
            <a:fillRect/>
          </a:stretch>
        </p:blipFill>
        <p:spPr>
          <a:xfrm>
            <a:off x="338611" y="716050"/>
            <a:ext cx="3476400" cy="2057400"/>
          </a:xfrm>
          <a:prstGeom prst="roundRect">
            <a:avLst>
              <a:gd fmla="val 16667" name="adj"/>
            </a:avLst>
          </a:prstGeom>
          <a:noFill/>
          <a:ln>
            <a:noFill/>
          </a:ln>
        </p:spPr>
      </p:pic>
      <p:pic>
        <p:nvPicPr>
          <p:cNvPr id="405" name="Google Shape;405;p53" title="net_emissions_electric_bus___10_riders.png"/>
          <p:cNvPicPr preferRelativeResize="0"/>
          <p:nvPr/>
        </p:nvPicPr>
        <p:blipFill rotWithShape="1">
          <a:blip r:embed="rId4">
            <a:alphaModFix/>
          </a:blip>
          <a:srcRect b="0" l="0" r="10" t="0"/>
          <a:stretch/>
        </p:blipFill>
        <p:spPr>
          <a:xfrm>
            <a:off x="338611" y="2796275"/>
            <a:ext cx="3476400" cy="2055900"/>
          </a:xfrm>
          <a:prstGeom prst="roundRect">
            <a:avLst>
              <a:gd fmla="val 16667" name="adj"/>
            </a:avLst>
          </a:prstGeom>
          <a:noFill/>
          <a:ln>
            <a:noFill/>
          </a:ln>
        </p:spPr>
      </p:pic>
      <p:pic>
        <p:nvPicPr>
          <p:cNvPr id="406" name="Google Shape;406;p53" title="net_emissions_electric_bus___20_riders.png"/>
          <p:cNvPicPr preferRelativeResize="0"/>
          <p:nvPr/>
        </p:nvPicPr>
        <p:blipFill rotWithShape="1">
          <a:blip r:embed="rId5">
            <a:alphaModFix/>
          </a:blip>
          <a:srcRect b="0" l="89" r="79" t="0"/>
          <a:stretch/>
        </p:blipFill>
        <p:spPr>
          <a:xfrm>
            <a:off x="5313139" y="2773450"/>
            <a:ext cx="3476400" cy="2057400"/>
          </a:xfrm>
          <a:prstGeom prst="roundRect">
            <a:avLst>
              <a:gd fmla="val 16667" name="adj"/>
            </a:avLst>
          </a:prstGeom>
          <a:noFill/>
          <a:ln>
            <a:noFill/>
          </a:ln>
        </p:spPr>
      </p:pic>
      <p:pic>
        <p:nvPicPr>
          <p:cNvPr id="407" name="Google Shape;407;p53" title="net_emissions_diesel_bus___20_riders.png"/>
          <p:cNvPicPr preferRelativeResize="0"/>
          <p:nvPr/>
        </p:nvPicPr>
        <p:blipFill rotWithShape="1">
          <a:blip r:embed="rId6">
            <a:alphaModFix/>
          </a:blip>
          <a:srcRect b="0" l="89" r="79" t="0"/>
          <a:stretch/>
        </p:blipFill>
        <p:spPr>
          <a:xfrm>
            <a:off x="5313139" y="683525"/>
            <a:ext cx="3476400" cy="2057400"/>
          </a:xfrm>
          <a:prstGeom prst="roundRect">
            <a:avLst>
              <a:gd fmla="val 16667" name="adj"/>
            </a:avLst>
          </a:prstGeom>
          <a:noFill/>
          <a:ln>
            <a:noFill/>
          </a:ln>
        </p:spPr>
      </p:pic>
      <p:sp>
        <p:nvSpPr>
          <p:cNvPr id="408" name="Google Shape;408;p53"/>
          <p:cNvSpPr txBox="1"/>
          <p:nvPr/>
        </p:nvSpPr>
        <p:spPr>
          <a:xfrm>
            <a:off x="3844625" y="2063350"/>
            <a:ext cx="1454700" cy="16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50">
                <a:solidFill>
                  <a:schemeClr val="lt1"/>
                </a:solidFill>
                <a:latin typeface="Merriweather"/>
                <a:ea typeface="Merriweather"/>
                <a:cs typeface="Merriweather"/>
                <a:sym typeface="Merriweather"/>
              </a:rPr>
              <a:t>An Average of 8000 metric tonnes of Carbon Emissions can be reduced</a:t>
            </a:r>
            <a:endParaRPr sz="600">
              <a:solidFill>
                <a:schemeClr val="dk2"/>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54"/>
          <p:cNvSpPr txBox="1"/>
          <p:nvPr>
            <p:ph idx="1" type="subTitle"/>
          </p:nvPr>
        </p:nvSpPr>
        <p:spPr>
          <a:xfrm>
            <a:off x="975300" y="849300"/>
            <a:ext cx="7193400" cy="340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rPr lang="en"/>
              <a:t>But what does an average of 8000 metric tonnes of Carbon Emissions reduced even mean?</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0" name="Google Shape;420;p55"/>
          <p:cNvSpPr txBox="1"/>
          <p:nvPr>
            <p:ph idx="1" type="subTitle"/>
          </p:nvPr>
        </p:nvSpPr>
        <p:spPr>
          <a:xfrm>
            <a:off x="975300" y="849300"/>
            <a:ext cx="7193400" cy="340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l">
              <a:spcBef>
                <a:spcPts val="1200"/>
              </a:spcBef>
              <a:spcAft>
                <a:spcPts val="0"/>
              </a:spcAft>
              <a:buNone/>
            </a:pPr>
            <a:r>
              <a:t/>
            </a:r>
            <a:endParaRPr sz="1050"/>
          </a:p>
          <a:p>
            <a:pPr indent="0" lvl="0" marL="0" rtl="0" algn="ctr">
              <a:spcBef>
                <a:spcPts val="1200"/>
              </a:spcBef>
              <a:spcAft>
                <a:spcPts val="0"/>
              </a:spcAft>
              <a:buNone/>
            </a:pPr>
            <a:r>
              <a:rPr lang="en" sz="1750"/>
              <a:t>A</a:t>
            </a:r>
            <a:r>
              <a:rPr lang="en" sz="1750"/>
              <a:t>ccording to Greenhouse Gas Equivalencies Calculator (epa.gov)</a:t>
            </a:r>
            <a:endParaRPr sz="1750"/>
          </a:p>
          <a:p>
            <a:pPr indent="0" lvl="0" marL="0" rtl="0" algn="ctr">
              <a:spcBef>
                <a:spcPts val="1200"/>
              </a:spcBef>
              <a:spcAft>
                <a:spcPts val="0"/>
              </a:spcAft>
              <a:buNone/>
            </a:pPr>
            <a:r>
              <a:rPr lang="en" sz="1650"/>
              <a:t>🚗 Taking cars off the road for 20 million miles</a:t>
            </a:r>
            <a:endParaRPr sz="1650"/>
          </a:p>
          <a:p>
            <a:pPr indent="0" lvl="0" marL="0" rtl="0" algn="ctr">
              <a:spcBef>
                <a:spcPts val="1200"/>
              </a:spcBef>
              <a:spcAft>
                <a:spcPts val="0"/>
              </a:spcAft>
              <a:buNone/>
            </a:pPr>
            <a:r>
              <a:rPr lang="en" sz="1650"/>
              <a:t>✈️ Canceling 8,000 cross-country flights</a:t>
            </a:r>
            <a:endParaRPr sz="1650"/>
          </a:p>
          <a:p>
            <a:pPr indent="0" lvl="0" marL="0" rtl="0" algn="ctr">
              <a:spcBef>
                <a:spcPts val="1200"/>
              </a:spcBef>
              <a:spcAft>
                <a:spcPts val="0"/>
              </a:spcAft>
              <a:buNone/>
            </a:pPr>
            <a:r>
              <a:rPr lang="en" sz="1650"/>
              <a:t>🌳 Planting over 400,000 trees and letting them grow for a decade</a:t>
            </a:r>
            <a:endParaRPr sz="1650"/>
          </a:p>
          <a:p>
            <a:pPr indent="0" lvl="0" marL="0" rtl="0" algn="ctr">
              <a:spcBef>
                <a:spcPts val="1200"/>
              </a:spcBef>
              <a:spcAft>
                <a:spcPts val="0"/>
              </a:spcAft>
              <a:buNone/>
            </a:pPr>
            <a:r>
              <a:rPr lang="en" sz="1650"/>
              <a:t>🏠 Powering 808 homes for a full year</a:t>
            </a:r>
            <a:endParaRPr sz="1650"/>
          </a:p>
          <a:p>
            <a:pPr indent="0" lvl="0" marL="0" rtl="0" algn="ctr">
              <a:spcBef>
                <a:spcPts val="1200"/>
              </a:spcBef>
              <a:spcAft>
                <a:spcPts val="0"/>
              </a:spcAft>
              <a:buNone/>
            </a:pPr>
            <a:r>
              <a:rPr lang="en" sz="1650"/>
              <a:t>⛽ Avoiding the use of 900,000 gallons of gasoline</a:t>
            </a:r>
            <a:endParaRPr sz="1650"/>
          </a:p>
          <a:p>
            <a:pPr indent="0" lvl="0" marL="0" rtl="0" algn="ctr">
              <a:spcBef>
                <a:spcPts val="1200"/>
              </a:spcBef>
              <a:spcAft>
                <a:spcPts val="0"/>
              </a:spcAft>
              <a:buNone/>
            </a:pPr>
            <a:r>
              <a:rPr lang="en" sz="1650"/>
              <a:t>📦Delivery of 20 million ecommerce packages</a:t>
            </a:r>
            <a:endParaRPr sz="3250"/>
          </a:p>
          <a:p>
            <a:pPr indent="0" lvl="0" marL="0" rtl="0" algn="ctr">
              <a:spcBef>
                <a:spcPts val="1200"/>
              </a:spcBef>
              <a:spcAft>
                <a:spcPts val="0"/>
              </a:spcAft>
              <a:buNone/>
            </a:pPr>
            <a:r>
              <a:t/>
            </a:r>
            <a:endParaRPr/>
          </a:p>
          <a:p>
            <a:pPr indent="0" lvl="0" marL="0" rtl="0" algn="ctr">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6"/>
          <p:cNvSpPr txBox="1"/>
          <p:nvPr>
            <p:ph idx="1" type="subTitle"/>
          </p:nvPr>
        </p:nvSpPr>
        <p:spPr>
          <a:xfrm>
            <a:off x="197400" y="241625"/>
            <a:ext cx="8749200" cy="1119000"/>
          </a:xfrm>
          <a:prstGeom prst="rect">
            <a:avLst/>
          </a:prstGeom>
        </p:spPr>
        <p:txBody>
          <a:bodyPr anchorCtr="0" anchor="ctr" bIns="91425" lIns="91425" spcFirstLastPara="1" rIns="91425" wrap="square" tIns="91425">
            <a:spAutoFit/>
          </a:bodyPr>
          <a:lstStyle/>
          <a:p>
            <a:pPr indent="0" lvl="0" marL="457200" rtl="0" algn="ctr">
              <a:lnSpc>
                <a:spcPct val="115000"/>
              </a:lnSpc>
              <a:spcBef>
                <a:spcPts val="0"/>
              </a:spcBef>
              <a:spcAft>
                <a:spcPts val="0"/>
              </a:spcAft>
              <a:buNone/>
            </a:pPr>
            <a:r>
              <a:rPr lang="en" sz="1850">
                <a:solidFill>
                  <a:schemeClr val="accent6"/>
                </a:solidFill>
              </a:rPr>
              <a:t>Financial Recommendations</a:t>
            </a:r>
            <a:br>
              <a:rPr lang="en" sz="1850">
                <a:solidFill>
                  <a:schemeClr val="accent6"/>
                </a:solidFill>
              </a:rPr>
            </a:br>
            <a:endParaRPr sz="950">
              <a:solidFill>
                <a:schemeClr val="accent6"/>
              </a:solidFill>
            </a:endParaRPr>
          </a:p>
          <a:p>
            <a:pPr indent="0" lvl="0" marL="0" rtl="0" algn="l">
              <a:lnSpc>
                <a:spcPct val="150000"/>
              </a:lnSpc>
              <a:spcBef>
                <a:spcPts val="1200"/>
              </a:spcBef>
              <a:spcAft>
                <a:spcPts val="1200"/>
              </a:spcAft>
              <a:buNone/>
            </a:pPr>
            <a:r>
              <a:t/>
            </a:r>
            <a:endParaRPr sz="1850">
              <a:solidFill>
                <a:schemeClr val="accent6"/>
              </a:solidFill>
            </a:endParaRPr>
          </a:p>
        </p:txBody>
      </p:sp>
      <p:sp>
        <p:nvSpPr>
          <p:cNvPr id="426" name="Google Shape;426;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7" name="Google Shape;427;p56"/>
          <p:cNvSpPr txBox="1"/>
          <p:nvPr>
            <p:ph idx="2" type="body"/>
          </p:nvPr>
        </p:nvSpPr>
        <p:spPr>
          <a:xfrm>
            <a:off x="229675" y="646250"/>
            <a:ext cx="8565900" cy="430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Merriweather"/>
                <a:ea typeface="Merriweather"/>
                <a:cs typeface="Merriweather"/>
                <a:sym typeface="Merriweather"/>
              </a:rPr>
              <a:t>Valley Metro</a:t>
            </a:r>
            <a:endParaRPr b="1" sz="1600">
              <a:latin typeface="Merriweather"/>
              <a:ea typeface="Merriweather"/>
              <a:cs typeface="Merriweather"/>
              <a:sym typeface="Merriweather"/>
            </a:endParaRPr>
          </a:p>
          <a:p>
            <a:pPr indent="-330200" lvl="0" marL="457200" rtl="0" algn="l">
              <a:spcBef>
                <a:spcPts val="1200"/>
              </a:spcBef>
              <a:spcAft>
                <a:spcPts val="0"/>
              </a:spcAft>
              <a:buSzPts val="1600"/>
              <a:buFont typeface="Merriweather"/>
              <a:buAutoNum type="arabicParenR"/>
            </a:pPr>
            <a:r>
              <a:rPr b="1" lang="en" sz="1600">
                <a:latin typeface="Merriweather"/>
                <a:ea typeface="Merriweather"/>
                <a:cs typeface="Merriweather"/>
                <a:sym typeface="Merriweather"/>
              </a:rPr>
              <a:t>&lt; $3M were allocated for VM personnel &amp; maintenance last year of $158M</a:t>
            </a:r>
            <a:endParaRPr b="1" sz="1600">
              <a:latin typeface="Merriweather"/>
              <a:ea typeface="Merriweather"/>
              <a:cs typeface="Merriweather"/>
              <a:sym typeface="Merriweather"/>
            </a:endParaRPr>
          </a:p>
          <a:p>
            <a:pPr indent="-330200" lvl="0" marL="457200" rtl="0" algn="l">
              <a:spcBef>
                <a:spcPts val="0"/>
              </a:spcBef>
              <a:spcAft>
                <a:spcPts val="0"/>
              </a:spcAft>
              <a:buSzPts val="1600"/>
              <a:buFont typeface="Merriweather"/>
              <a:buAutoNum type="arabicParenR"/>
            </a:pPr>
            <a:r>
              <a:rPr b="1" lang="en" sz="1600">
                <a:latin typeface="Merriweather"/>
                <a:ea typeface="Merriweather"/>
                <a:cs typeface="Merriweather"/>
                <a:sym typeface="Merriweather"/>
              </a:rPr>
              <a:t>Micro shelters for 45 new stops—total $540k (0.15% of AZ foreign aid in 2023)</a:t>
            </a:r>
            <a:endParaRPr b="1" sz="1600">
              <a:latin typeface="Merriweather"/>
              <a:ea typeface="Merriweather"/>
              <a:cs typeface="Merriweather"/>
              <a:sym typeface="Merriweather"/>
            </a:endParaRPr>
          </a:p>
          <a:p>
            <a:pPr indent="-330200" lvl="0" marL="457200" rtl="0" algn="l">
              <a:spcBef>
                <a:spcPts val="0"/>
              </a:spcBef>
              <a:spcAft>
                <a:spcPts val="0"/>
              </a:spcAft>
              <a:buSzPts val="1600"/>
              <a:buFont typeface="Merriweather"/>
              <a:buAutoNum type="arabicParenR"/>
            </a:pPr>
            <a:r>
              <a:rPr b="1" lang="en" sz="1600">
                <a:latin typeface="Merriweather"/>
                <a:ea typeface="Merriweather"/>
                <a:cs typeface="Merriweather"/>
                <a:sym typeface="Merriweather"/>
              </a:rPr>
              <a:t>City budgets  from the police department can be reallocated to infrastructure</a:t>
            </a:r>
            <a:endParaRPr b="1" sz="1600">
              <a:latin typeface="Merriweather"/>
              <a:ea typeface="Merriweather"/>
              <a:cs typeface="Merriweather"/>
              <a:sym typeface="Merriweather"/>
            </a:endParaRPr>
          </a:p>
          <a:p>
            <a:pPr indent="-330200" lvl="0" marL="457200" rtl="0" algn="l">
              <a:spcBef>
                <a:spcPts val="0"/>
              </a:spcBef>
              <a:spcAft>
                <a:spcPts val="0"/>
              </a:spcAft>
              <a:buSzPts val="1600"/>
              <a:buFont typeface="Merriweather"/>
              <a:buAutoNum type="arabicParenR"/>
            </a:pPr>
            <a:r>
              <a:rPr b="1" lang="en" sz="1600">
                <a:latin typeface="Merriweather"/>
                <a:ea typeface="Merriweather"/>
                <a:cs typeface="Merriweather"/>
                <a:sym typeface="Merriweather"/>
              </a:rPr>
              <a:t>Building bus shelters would create new jobs during this recession</a:t>
            </a:r>
            <a:endParaRPr b="1" sz="1600">
              <a:latin typeface="Merriweather"/>
              <a:ea typeface="Merriweather"/>
              <a:cs typeface="Merriweather"/>
              <a:sym typeface="Merriweather"/>
            </a:endParaRPr>
          </a:p>
          <a:p>
            <a:pPr indent="0" lvl="0" marL="0" rtl="0" algn="l">
              <a:spcBef>
                <a:spcPts val="1200"/>
              </a:spcBef>
              <a:spcAft>
                <a:spcPts val="0"/>
              </a:spcAft>
              <a:buNone/>
            </a:pPr>
            <a:r>
              <a:t/>
            </a:r>
            <a:endParaRPr b="1" sz="1600">
              <a:latin typeface="Merriweather"/>
              <a:ea typeface="Merriweather"/>
              <a:cs typeface="Merriweather"/>
              <a:sym typeface="Merriweather"/>
            </a:endParaRPr>
          </a:p>
          <a:p>
            <a:pPr indent="0" lvl="0" marL="0" rtl="0" algn="l">
              <a:spcBef>
                <a:spcPts val="1200"/>
              </a:spcBef>
              <a:spcAft>
                <a:spcPts val="1200"/>
              </a:spcAft>
              <a:buNone/>
            </a:pPr>
            <a:r>
              <a:t/>
            </a:r>
            <a:endParaRPr b="1" sz="1600">
              <a:latin typeface="Merriweather"/>
              <a:ea typeface="Merriweather"/>
              <a:cs typeface="Merriweather"/>
              <a:sym typeface="Merriweath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7"/>
          <p:cNvSpPr txBox="1"/>
          <p:nvPr>
            <p:ph idx="1" type="body"/>
          </p:nvPr>
        </p:nvSpPr>
        <p:spPr>
          <a:xfrm>
            <a:off x="196950" y="449200"/>
            <a:ext cx="8565900" cy="449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500"/>
          </a:p>
          <a:p>
            <a:pPr indent="-323850" lvl="0" marL="457200" rtl="0" algn="l">
              <a:spcBef>
                <a:spcPts val="1200"/>
              </a:spcBef>
              <a:spcAft>
                <a:spcPts val="0"/>
              </a:spcAft>
              <a:buSzPts val="1500"/>
              <a:buChar char="●"/>
            </a:pPr>
            <a:r>
              <a:rPr b="1" lang="en" sz="1600">
                <a:latin typeface="Arial"/>
                <a:ea typeface="Arial"/>
                <a:cs typeface="Arial"/>
                <a:sym typeface="Arial"/>
              </a:rPr>
              <a:t>Strategic Route Expansion:</a:t>
            </a:r>
            <a:r>
              <a:rPr lang="en" sz="1600">
                <a:latin typeface="Arial"/>
                <a:ea typeface="Arial"/>
                <a:cs typeface="Arial"/>
                <a:sym typeface="Arial"/>
              </a:rPr>
              <a:t> Five new bus lines with 45 stops—at an estimated $540 K (&lt; 1 % of the Valley Metro budget)—can cut private-vehicle CO₂ emissions by roughly 1,200 tons per year.</a:t>
            </a:r>
            <a:br>
              <a:rPr lang="en" sz="1600">
                <a:latin typeface="Arial"/>
                <a:ea typeface="Arial"/>
                <a:cs typeface="Arial"/>
                <a:sym typeface="Arial"/>
              </a:rPr>
            </a:br>
            <a:endParaRPr sz="1600">
              <a:latin typeface="Arial"/>
              <a:ea typeface="Arial"/>
              <a:cs typeface="Arial"/>
              <a:sym typeface="Arial"/>
            </a:endParaRPr>
          </a:p>
          <a:p>
            <a:pPr indent="-323850" lvl="0" marL="457200" rtl="0" algn="l">
              <a:spcBef>
                <a:spcPts val="0"/>
              </a:spcBef>
              <a:spcAft>
                <a:spcPts val="0"/>
              </a:spcAft>
              <a:buSzPts val="1500"/>
              <a:buChar char="●"/>
            </a:pPr>
            <a:r>
              <a:rPr b="1" lang="en" sz="1600">
                <a:latin typeface="Arial"/>
                <a:ea typeface="Arial"/>
                <a:cs typeface="Arial"/>
                <a:sym typeface="Arial"/>
              </a:rPr>
              <a:t>Heat-Risk Reduction:</a:t>
            </a:r>
            <a:r>
              <a:rPr lang="en" sz="1600">
                <a:latin typeface="Arial"/>
                <a:ea typeface="Arial"/>
                <a:cs typeface="Arial"/>
                <a:sym typeface="Arial"/>
              </a:rPr>
              <a:t> Enhanced transit options during 100 °F+ days lower outdoor exposure, directly improving public health outcomes.</a:t>
            </a:r>
            <a:br>
              <a:rPr lang="en" sz="1600">
                <a:latin typeface="Arial"/>
                <a:ea typeface="Arial"/>
                <a:cs typeface="Arial"/>
                <a:sym typeface="Arial"/>
              </a:rPr>
            </a:br>
            <a:endParaRPr sz="1600">
              <a:latin typeface="Arial"/>
              <a:ea typeface="Arial"/>
              <a:cs typeface="Arial"/>
              <a:sym typeface="Arial"/>
            </a:endParaRPr>
          </a:p>
          <a:p>
            <a:pPr indent="-323850" lvl="0" marL="457200" rtl="0" algn="l">
              <a:spcBef>
                <a:spcPts val="0"/>
              </a:spcBef>
              <a:spcAft>
                <a:spcPts val="0"/>
              </a:spcAft>
              <a:buSzPts val="1500"/>
              <a:buChar char="●"/>
            </a:pPr>
            <a:r>
              <a:rPr b="1" lang="en" sz="1600">
                <a:latin typeface="Arial"/>
                <a:ea typeface="Arial"/>
                <a:cs typeface="Arial"/>
                <a:sym typeface="Arial"/>
              </a:rPr>
              <a:t>Equity Gains:</a:t>
            </a:r>
            <a:r>
              <a:rPr lang="en" sz="1600">
                <a:latin typeface="Arial"/>
                <a:ea typeface="Arial"/>
                <a:cs typeface="Arial"/>
                <a:sym typeface="Arial"/>
              </a:rPr>
              <a:t> Reliable, air-conditioned mobility especially benefits seniors, low-income households, and unhoused residents.</a:t>
            </a:r>
            <a:br>
              <a:rPr lang="en" sz="1600">
                <a:latin typeface="Arial"/>
                <a:ea typeface="Arial"/>
                <a:cs typeface="Arial"/>
                <a:sym typeface="Arial"/>
              </a:rPr>
            </a:br>
            <a:endParaRPr sz="1600">
              <a:latin typeface="Arial"/>
              <a:ea typeface="Arial"/>
              <a:cs typeface="Arial"/>
              <a:sym typeface="Arial"/>
            </a:endParaRPr>
          </a:p>
          <a:p>
            <a:pPr indent="-323850" lvl="0" marL="457200" rtl="0" algn="l">
              <a:spcBef>
                <a:spcPts val="0"/>
              </a:spcBef>
              <a:spcAft>
                <a:spcPts val="0"/>
              </a:spcAft>
              <a:buSzPts val="1500"/>
              <a:buChar char="●"/>
            </a:pPr>
            <a:r>
              <a:rPr b="1" lang="en" sz="1600">
                <a:latin typeface="Arial"/>
                <a:ea typeface="Arial"/>
                <a:cs typeface="Arial"/>
                <a:sym typeface="Arial"/>
              </a:rPr>
              <a:t>High Return on Investment:</a:t>
            </a:r>
            <a:r>
              <a:rPr lang="en" sz="1600">
                <a:latin typeface="Arial"/>
                <a:ea typeface="Arial"/>
                <a:cs typeface="Arial"/>
                <a:sym typeface="Arial"/>
              </a:rPr>
              <a:t> Environmental and social benefits far outweigh the modest capital outlay, delivering strong ROI.</a:t>
            </a:r>
            <a:br>
              <a:rPr lang="en" sz="1600">
                <a:latin typeface="Arial"/>
                <a:ea typeface="Arial"/>
                <a:cs typeface="Arial"/>
                <a:sym typeface="Arial"/>
              </a:rPr>
            </a:br>
            <a:endParaRPr sz="1600">
              <a:latin typeface="Arial"/>
              <a:ea typeface="Arial"/>
              <a:cs typeface="Arial"/>
              <a:sym typeface="Arial"/>
            </a:endParaRPr>
          </a:p>
          <a:p>
            <a:pPr indent="-323850" lvl="0" marL="457200" rtl="0" algn="l">
              <a:spcBef>
                <a:spcPts val="0"/>
              </a:spcBef>
              <a:spcAft>
                <a:spcPts val="0"/>
              </a:spcAft>
              <a:buSzPts val="1500"/>
              <a:buChar char="●"/>
            </a:pPr>
            <a:r>
              <a:rPr b="1" lang="en" sz="1600">
                <a:latin typeface="Arial"/>
                <a:ea typeface="Arial"/>
                <a:cs typeface="Arial"/>
                <a:sym typeface="Arial"/>
              </a:rPr>
              <a:t>Scalable Framework:</a:t>
            </a:r>
            <a:r>
              <a:rPr lang="en" sz="1600">
                <a:latin typeface="Arial"/>
                <a:ea typeface="Arial"/>
                <a:cs typeface="Arial"/>
                <a:sym typeface="Arial"/>
              </a:rPr>
              <a:t> This data-driven approach can be replicated across other Sun-Belt cities wrestling with rising temperatures and transport emissions.</a:t>
            </a:r>
            <a:endParaRPr sz="1500"/>
          </a:p>
        </p:txBody>
      </p:sp>
      <p:sp>
        <p:nvSpPr>
          <p:cNvPr id="433" name="Google Shape;433;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4" name="Google Shape;434;p57"/>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Data Sources</a:t>
            </a:r>
            <a:endParaRPr sz="3000"/>
          </a:p>
        </p:txBody>
      </p:sp>
      <p:sp>
        <p:nvSpPr>
          <p:cNvPr id="440" name="Google Shape;440;p5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100" u="sng">
                <a:solidFill>
                  <a:schemeClr val="hlink"/>
                </a:solidFill>
                <a:latin typeface="Arial"/>
                <a:ea typeface="Arial"/>
                <a:cs typeface="Arial"/>
                <a:sym typeface="Arial"/>
                <a:hlinkClick r:id="rId3"/>
              </a:rPr>
              <a:t>https://www.valleymetro.org/about/agency/transit-performance/finance-budget-reports</a:t>
            </a:r>
            <a:endParaRPr sz="1700"/>
          </a:p>
          <a:p>
            <a:pPr indent="-336550" lvl="0" marL="457200" rtl="0" algn="l">
              <a:spcBef>
                <a:spcPts val="0"/>
              </a:spcBef>
              <a:spcAft>
                <a:spcPts val="0"/>
              </a:spcAft>
              <a:buSzPts val="1700"/>
              <a:buChar char="●"/>
            </a:pPr>
            <a:r>
              <a:rPr lang="en" sz="1100" u="sng">
                <a:solidFill>
                  <a:schemeClr val="hlink"/>
                </a:solidFill>
                <a:latin typeface="Arial"/>
                <a:ea typeface="Arial"/>
                <a:cs typeface="Arial"/>
                <a:sym typeface="Arial"/>
                <a:hlinkClick r:id="rId4"/>
              </a:rPr>
              <a:t>https://www.valleymetro.org/about/agency/transit-performance/ridership-reports</a:t>
            </a:r>
            <a:endParaRPr sz="1700"/>
          </a:p>
          <a:p>
            <a:pPr indent="-336550" lvl="0" marL="457200" rtl="0" algn="l">
              <a:spcBef>
                <a:spcPts val="0"/>
              </a:spcBef>
              <a:spcAft>
                <a:spcPts val="0"/>
              </a:spcAft>
              <a:buSzPts val="1700"/>
              <a:buChar char="●"/>
            </a:pPr>
            <a:r>
              <a:rPr lang="en" sz="1100" u="sng">
                <a:solidFill>
                  <a:schemeClr val="hlink"/>
                </a:solidFill>
                <a:latin typeface="Arial"/>
                <a:ea typeface="Arial"/>
                <a:cs typeface="Arial"/>
                <a:sym typeface="Arial"/>
                <a:hlinkClick r:id="rId5"/>
              </a:rPr>
              <a:t>https://data.mesaaz.gov/Transit-Services/Bus-Ridership/nmjv-498y/about_data</a:t>
            </a:r>
            <a:endParaRPr sz="1700"/>
          </a:p>
          <a:p>
            <a:pPr indent="-336550" lvl="0" marL="457200" rtl="0" algn="l">
              <a:spcBef>
                <a:spcPts val="0"/>
              </a:spcBef>
              <a:spcAft>
                <a:spcPts val="0"/>
              </a:spcAft>
              <a:buSzPts val="1700"/>
              <a:buChar char="●"/>
            </a:pPr>
            <a:r>
              <a:rPr lang="en" sz="1100" u="sng">
                <a:solidFill>
                  <a:schemeClr val="hlink"/>
                </a:solidFill>
                <a:latin typeface="Arial"/>
                <a:ea typeface="Arial"/>
                <a:cs typeface="Arial"/>
                <a:sym typeface="Arial"/>
                <a:hlinkClick r:id="rId6"/>
              </a:rPr>
              <a:t>https://data.mesaaz.gov/Environmental-and-Sustainability/City-Energy-Usage/ksen-g4gs/about_data</a:t>
            </a:r>
            <a:endParaRPr sz="1700"/>
          </a:p>
          <a:p>
            <a:pPr indent="-336550" lvl="0" marL="457200" rtl="0" algn="l">
              <a:spcBef>
                <a:spcPts val="0"/>
              </a:spcBef>
              <a:spcAft>
                <a:spcPts val="0"/>
              </a:spcAft>
              <a:buSzPts val="1700"/>
              <a:buChar char="●"/>
            </a:pPr>
            <a:r>
              <a:rPr lang="en" sz="1100" u="sng">
                <a:solidFill>
                  <a:schemeClr val="hlink"/>
                </a:solidFill>
                <a:latin typeface="Arial"/>
                <a:ea typeface="Arial"/>
                <a:cs typeface="Arial"/>
                <a:sym typeface="Arial"/>
                <a:hlinkClick r:id="rId7"/>
              </a:rPr>
              <a:t>https://data.mesaaz.gov/Planes-Trains-Automobiles/Bus-Ridership-by-Month/mnst-39et</a:t>
            </a:r>
            <a:endParaRPr sz="1700"/>
          </a:p>
          <a:p>
            <a:pPr indent="-336550" lvl="0" marL="457200" rtl="0" algn="l">
              <a:spcBef>
                <a:spcPts val="0"/>
              </a:spcBef>
              <a:spcAft>
                <a:spcPts val="0"/>
              </a:spcAft>
              <a:buSzPts val="1700"/>
              <a:buChar char="●"/>
            </a:pPr>
            <a:r>
              <a:rPr lang="en" sz="1200" u="sng">
                <a:solidFill>
                  <a:schemeClr val="hlink"/>
                </a:solidFill>
                <a:latin typeface="Arial"/>
                <a:ea typeface="Arial"/>
                <a:cs typeface="Arial"/>
                <a:sym typeface="Arial"/>
                <a:hlinkClick r:id="rId8"/>
              </a:rPr>
              <a:t>https://www.ncdc.noaa.gov/cdo-web/api/v2/data</a:t>
            </a:r>
            <a:endParaRPr sz="1700"/>
          </a:p>
          <a:p>
            <a:pPr indent="-336550" lvl="0" marL="457200" rtl="0" algn="l">
              <a:spcBef>
                <a:spcPts val="0"/>
              </a:spcBef>
              <a:spcAft>
                <a:spcPts val="0"/>
              </a:spcAft>
              <a:buSzPts val="1700"/>
              <a:buChar char="●"/>
            </a:pPr>
            <a:r>
              <a:rPr lang="en" sz="1200" u="sng">
                <a:solidFill>
                  <a:schemeClr val="hlink"/>
                </a:solidFill>
                <a:latin typeface="Arial"/>
                <a:ea typeface="Arial"/>
                <a:cs typeface="Arial"/>
                <a:sym typeface="Arial"/>
                <a:hlinkClick r:id="rId9"/>
              </a:rPr>
              <a:t>https://www.census.gov/geographies/mapping-files/time-series/geo/tiger-line-file.html</a:t>
            </a:r>
            <a:endParaRPr sz="1700"/>
          </a:p>
          <a:p>
            <a:pPr indent="-336550" lvl="0" marL="457200" rtl="0" algn="l">
              <a:spcBef>
                <a:spcPts val="0"/>
              </a:spcBef>
              <a:spcAft>
                <a:spcPts val="0"/>
              </a:spcAft>
              <a:buSzPts val="1700"/>
              <a:buChar char="●"/>
            </a:pPr>
            <a:r>
              <a:rPr lang="en" sz="1200" u="sng">
                <a:solidFill>
                  <a:schemeClr val="hlink"/>
                </a:solidFill>
                <a:latin typeface="Arial"/>
                <a:ea typeface="Arial"/>
                <a:cs typeface="Arial"/>
                <a:sym typeface="Arial"/>
                <a:hlinkClick r:id="rId10"/>
              </a:rPr>
              <a:t>https://opengis.mesaaz.gov/datasets/b56f02cdc87643b593ceebcd28669564_0/explore?location=33.394749%2C-111.737377%2C11.69</a:t>
            </a:r>
            <a:endParaRPr sz="1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